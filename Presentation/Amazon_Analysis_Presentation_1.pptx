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902FB5-B1AA-416B-BC40-DF5A00ECFFDE}" v="2" dt="2026-04-30T10:19:48.2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6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eem j" userId="152bd8a15bc0a045" providerId="LiveId" clId="{84734967-F018-4B63-B4EC-FEBC02FB5EF4}"/>
    <pc:docChg chg="undo custSel modSld">
      <pc:chgData name="raneem j" userId="152bd8a15bc0a045" providerId="LiveId" clId="{84734967-F018-4B63-B4EC-FEBC02FB5EF4}" dt="2026-04-30T10:20:55.645" v="83" actId="20577"/>
      <pc:docMkLst>
        <pc:docMk/>
      </pc:docMkLst>
      <pc:sldChg chg="delSp modSp mod">
        <pc:chgData name="raneem j" userId="152bd8a15bc0a045" providerId="LiveId" clId="{84734967-F018-4B63-B4EC-FEBC02FB5EF4}" dt="2026-04-30T10:20:55.645" v="83" actId="20577"/>
        <pc:sldMkLst>
          <pc:docMk/>
          <pc:sldMk cId="0" sldId="256"/>
        </pc:sldMkLst>
        <pc:spChg chg="del">
          <ac:chgData name="raneem j" userId="152bd8a15bc0a045" providerId="LiveId" clId="{84734967-F018-4B63-B4EC-FEBC02FB5EF4}" dt="2026-04-30T10:20:40.465" v="78" actId="478"/>
          <ac:spMkLst>
            <pc:docMk/>
            <pc:sldMk cId="0" sldId="256"/>
            <ac:spMk id="2" creationId="{00000000-0000-0000-0000-000000000000}"/>
          </ac:spMkLst>
        </pc:spChg>
        <pc:spChg chg="mod">
          <ac:chgData name="raneem j" userId="152bd8a15bc0a045" providerId="LiveId" clId="{84734967-F018-4B63-B4EC-FEBC02FB5EF4}" dt="2026-04-30T10:20:08.140" v="40" actId="20577"/>
          <ac:spMkLst>
            <pc:docMk/>
            <pc:sldMk cId="0" sldId="256"/>
            <ac:spMk id="5" creationId="{00000000-0000-0000-0000-000000000000}"/>
          </ac:spMkLst>
        </pc:spChg>
        <pc:spChg chg="mod">
          <ac:chgData name="raneem j" userId="152bd8a15bc0a045" providerId="LiveId" clId="{84734967-F018-4B63-B4EC-FEBC02FB5EF4}" dt="2026-04-30T10:20:55.645" v="83" actId="20577"/>
          <ac:spMkLst>
            <pc:docMk/>
            <pc:sldMk cId="0" sldId="256"/>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2C1810"/>
                </a:solidFill>
                <a:latin typeface="Arial"/>
              </a:defRPr>
            </a:pPr>
            <a:r>
              <a:rPr lang="en-US" sz="1200" b="0" i="0" u="none" strike="noStrike">
                <a:solidFill>
                  <a:srgbClr val="2C1810"/>
                </a:solidFill>
                <a:latin typeface="Arial"/>
              </a:rPr>
              <a:t>Products by Price Range</a:t>
            </a:r>
          </a:p>
        </c:rich>
      </c:tx>
      <c:overlay val="0"/>
    </c:title>
    <c:autoTitleDeleted val="0"/>
    <c:plotArea>
      <c:layout/>
      <c:barChart>
        <c:barDir val="col"/>
        <c:grouping val="clustered"/>
        <c:varyColors val="0"/>
        <c:ser>
          <c:idx val="0"/>
          <c:order val="0"/>
          <c:tx>
            <c:strRef>
              <c:f>Sheet1!$B$1</c:f>
              <c:strCache>
                <c:ptCount val="1"/>
                <c:pt idx="0">
                  <c:v>Products</c:v>
                </c:pt>
              </c:strCache>
            </c:strRef>
          </c:tx>
          <c:spPr>
            <a:solidFill>
              <a:srgbClr val="6D2E46"/>
            </a:solidFill>
            <a:effectLst/>
          </c:spPr>
          <c:invertIfNegative val="0"/>
          <c:dPt>
            <c:idx val="0"/>
            <c:invertIfNegative val="0"/>
            <c:bubble3D val="0"/>
            <c:extLst>
              <c:ext xmlns:c16="http://schemas.microsoft.com/office/drawing/2014/chart" uri="{C3380CC4-5D6E-409C-BE32-E72D297353CC}">
                <c16:uniqueId val="{00000001-0AD1-409D-8352-0CFF14BE1866}"/>
              </c:ext>
            </c:extLst>
          </c:dPt>
          <c:dPt>
            <c:idx val="1"/>
            <c:invertIfNegative val="0"/>
            <c:bubble3D val="0"/>
            <c:spPr>
              <a:solidFill>
                <a:srgbClr val="A26769"/>
              </a:solidFill>
              <a:effectLst/>
            </c:spPr>
            <c:extLst>
              <c:ext xmlns:c16="http://schemas.microsoft.com/office/drawing/2014/chart" uri="{C3380CC4-5D6E-409C-BE32-E72D297353CC}">
                <c16:uniqueId val="{00000003-0AD1-409D-8352-0CFF14BE1866}"/>
              </c:ext>
            </c:extLst>
          </c:dPt>
          <c:dPt>
            <c:idx val="2"/>
            <c:invertIfNegative val="0"/>
            <c:bubble3D val="0"/>
            <c:extLst>
              <c:ext xmlns:c16="http://schemas.microsoft.com/office/drawing/2014/chart" uri="{C3380CC4-5D6E-409C-BE32-E72D297353CC}">
                <c16:uniqueId val="{00000005-0AD1-409D-8352-0CFF14BE1866}"/>
              </c:ext>
            </c:extLst>
          </c:dPt>
          <c:dPt>
            <c:idx val="3"/>
            <c:invertIfNegative val="0"/>
            <c:bubble3D val="0"/>
            <c:spPr>
              <a:solidFill>
                <a:srgbClr val="A26769"/>
              </a:solidFill>
              <a:effectLst/>
            </c:spPr>
            <c:extLst>
              <c:ext xmlns:c16="http://schemas.microsoft.com/office/drawing/2014/chart" uri="{C3380CC4-5D6E-409C-BE32-E72D297353CC}">
                <c16:uniqueId val="{00000007-0AD1-409D-8352-0CFF14BE1866}"/>
              </c:ext>
            </c:extLst>
          </c:dPt>
          <c:dPt>
            <c:idx val="4"/>
            <c:invertIfNegative val="0"/>
            <c:bubble3D val="0"/>
            <c:extLst>
              <c:ext xmlns:c16="http://schemas.microsoft.com/office/drawing/2014/chart" uri="{C3380CC4-5D6E-409C-BE32-E72D297353CC}">
                <c16:uniqueId val="{00000009-0AD1-409D-8352-0CFF14BE1866}"/>
              </c:ext>
            </c:extLst>
          </c:dPt>
          <c:dPt>
            <c:idx val="5"/>
            <c:invertIfNegative val="0"/>
            <c:bubble3D val="0"/>
            <c:spPr>
              <a:solidFill>
                <a:srgbClr val="A26769"/>
              </a:solidFill>
              <a:effectLst/>
            </c:spPr>
            <c:extLst>
              <c:ext xmlns:c16="http://schemas.microsoft.com/office/drawing/2014/chart" uri="{C3380CC4-5D6E-409C-BE32-E72D297353CC}">
                <c16:uniqueId val="{0000000B-0AD1-409D-8352-0CFF14BE1866}"/>
              </c:ext>
            </c:extLst>
          </c:dPt>
          <c:dLbls>
            <c:numFmt formatCode="#,##0" sourceLinked="0"/>
            <c:spPr>
              <a:noFill/>
              <a:ln>
                <a:noFill/>
              </a:ln>
              <a:effectLst/>
            </c:spPr>
            <c:txPr>
              <a:bodyPr/>
              <a:lstStyle/>
              <a:p>
                <a:pPr>
                  <a:defRPr sz="1200" b="0" i="0" u="none" strike="noStrike">
                    <a:solidFill>
                      <a:srgbClr val="2C181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Under $25</c:v>
                </c:pt>
                <c:pt idx="1">
                  <c:v>$25–$50</c:v>
                </c:pt>
                <c:pt idx="2">
                  <c:v>$50–$100</c:v>
                </c:pt>
                <c:pt idx="3">
                  <c:v>$100–$250</c:v>
                </c:pt>
                <c:pt idx="4">
                  <c:v>$250–$500</c:v>
                </c:pt>
                <c:pt idx="5">
                  <c:v>Over $500</c:v>
                </c:pt>
              </c:strCache>
            </c:strRef>
          </c:cat>
          <c:val>
            <c:numRef>
              <c:f>Sheet1!$B$2:$B$7</c:f>
              <c:numCache>
                <c:formatCode>General</c:formatCode>
                <c:ptCount val="6"/>
                <c:pt idx="0">
                  <c:v>294</c:v>
                </c:pt>
                <c:pt idx="1">
                  <c:v>143</c:v>
                </c:pt>
                <c:pt idx="2">
                  <c:v>151</c:v>
                </c:pt>
                <c:pt idx="3">
                  <c:v>215</c:v>
                </c:pt>
                <c:pt idx="4">
                  <c:v>96</c:v>
                </c:pt>
                <c:pt idx="5">
                  <c:v>72</c:v>
                </c:pt>
              </c:numCache>
            </c:numRef>
          </c:val>
          <c:extLst>
            <c:ext xmlns:c16="http://schemas.microsoft.com/office/drawing/2014/chart" uri="{C3380CC4-5D6E-409C-BE32-E72D297353CC}">
              <c16:uniqueId val="{0000000C-0AD1-409D-8352-0CFF14BE186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6B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2C1810"/>
                </a:solidFill>
                <a:latin typeface="Arial"/>
              </a:defRPr>
            </a:pPr>
            <a:r>
              <a:rPr lang="en-US" sz="1200" b="0" i="0" u="none" strike="noStrike">
                <a:solidFill>
                  <a:srgbClr val="2C1810"/>
                </a:solidFill>
                <a:latin typeface="Arial"/>
              </a:rPr>
              <a:t>Top 10 Brands by Units Sold (Monthly)</a:t>
            </a:r>
          </a:p>
        </c:rich>
      </c:tx>
      <c:overlay val="0"/>
    </c:title>
    <c:autoTitleDeleted val="0"/>
    <c:plotArea>
      <c:layout/>
      <c:barChart>
        <c:barDir val="bar"/>
        <c:grouping val="clustered"/>
        <c:varyColors val="0"/>
        <c:ser>
          <c:idx val="0"/>
          <c:order val="0"/>
          <c:tx>
            <c:strRef>
              <c:f>Sheet1!$B$1</c:f>
              <c:strCache>
                <c:ptCount val="1"/>
                <c:pt idx="0">
                  <c:v>Units Sold</c:v>
                </c:pt>
              </c:strCache>
            </c:strRef>
          </c:tx>
          <c:spPr>
            <a:solidFill>
              <a:srgbClr val="6D2E46"/>
            </a:solidFill>
            <a:effectLst/>
          </c:spPr>
          <c:invertIfNegative val="0"/>
          <c:dPt>
            <c:idx val="0"/>
            <c:invertIfNegative val="0"/>
            <c:bubble3D val="0"/>
            <c:extLst>
              <c:ext xmlns:c16="http://schemas.microsoft.com/office/drawing/2014/chart" uri="{C3380CC4-5D6E-409C-BE32-E72D297353CC}">
                <c16:uniqueId val="{00000001-AE06-4BBF-9D12-C76C35819008}"/>
              </c:ext>
            </c:extLst>
          </c:dPt>
          <c:dPt>
            <c:idx val="1"/>
            <c:invertIfNegative val="0"/>
            <c:bubble3D val="0"/>
            <c:spPr>
              <a:solidFill>
                <a:srgbClr val="A26769"/>
              </a:solidFill>
              <a:effectLst/>
            </c:spPr>
            <c:extLst>
              <c:ext xmlns:c16="http://schemas.microsoft.com/office/drawing/2014/chart" uri="{C3380CC4-5D6E-409C-BE32-E72D297353CC}">
                <c16:uniqueId val="{00000003-AE06-4BBF-9D12-C76C35819008}"/>
              </c:ext>
            </c:extLst>
          </c:dPt>
          <c:dPt>
            <c:idx val="2"/>
            <c:invertIfNegative val="0"/>
            <c:bubble3D val="0"/>
            <c:spPr>
              <a:solidFill>
                <a:srgbClr val="A26769"/>
              </a:solidFill>
              <a:effectLst/>
            </c:spPr>
            <c:extLst>
              <c:ext xmlns:c16="http://schemas.microsoft.com/office/drawing/2014/chart" uri="{C3380CC4-5D6E-409C-BE32-E72D297353CC}">
                <c16:uniqueId val="{00000005-AE06-4BBF-9D12-C76C35819008}"/>
              </c:ext>
            </c:extLst>
          </c:dPt>
          <c:dPt>
            <c:idx val="3"/>
            <c:invertIfNegative val="0"/>
            <c:bubble3D val="0"/>
            <c:spPr>
              <a:solidFill>
                <a:srgbClr val="A26769"/>
              </a:solidFill>
              <a:effectLst/>
            </c:spPr>
            <c:extLst>
              <c:ext xmlns:c16="http://schemas.microsoft.com/office/drawing/2014/chart" uri="{C3380CC4-5D6E-409C-BE32-E72D297353CC}">
                <c16:uniqueId val="{00000007-AE06-4BBF-9D12-C76C35819008}"/>
              </c:ext>
            </c:extLst>
          </c:dPt>
          <c:dPt>
            <c:idx val="4"/>
            <c:invertIfNegative val="0"/>
            <c:bubble3D val="0"/>
            <c:spPr>
              <a:solidFill>
                <a:srgbClr val="A26769"/>
              </a:solidFill>
              <a:effectLst/>
            </c:spPr>
            <c:extLst>
              <c:ext xmlns:c16="http://schemas.microsoft.com/office/drawing/2014/chart" uri="{C3380CC4-5D6E-409C-BE32-E72D297353CC}">
                <c16:uniqueId val="{00000009-AE06-4BBF-9D12-C76C35819008}"/>
              </c:ext>
            </c:extLst>
          </c:dPt>
          <c:dPt>
            <c:idx val="5"/>
            <c:invertIfNegative val="0"/>
            <c:bubble3D val="0"/>
            <c:spPr>
              <a:solidFill>
                <a:srgbClr val="A26769"/>
              </a:solidFill>
              <a:effectLst/>
            </c:spPr>
            <c:extLst>
              <c:ext xmlns:c16="http://schemas.microsoft.com/office/drawing/2014/chart" uri="{C3380CC4-5D6E-409C-BE32-E72D297353CC}">
                <c16:uniqueId val="{0000000B-AE06-4BBF-9D12-C76C35819008}"/>
              </c:ext>
            </c:extLst>
          </c:dPt>
          <c:dPt>
            <c:idx val="6"/>
            <c:invertIfNegative val="0"/>
            <c:bubble3D val="0"/>
            <c:spPr>
              <a:solidFill>
                <a:srgbClr val="A26769"/>
              </a:solidFill>
              <a:effectLst/>
            </c:spPr>
            <c:extLst>
              <c:ext xmlns:c16="http://schemas.microsoft.com/office/drawing/2014/chart" uri="{C3380CC4-5D6E-409C-BE32-E72D297353CC}">
                <c16:uniqueId val="{0000000D-AE06-4BBF-9D12-C76C35819008}"/>
              </c:ext>
            </c:extLst>
          </c:dPt>
          <c:dPt>
            <c:idx val="7"/>
            <c:invertIfNegative val="0"/>
            <c:bubble3D val="0"/>
            <c:spPr>
              <a:solidFill>
                <a:srgbClr val="A26769"/>
              </a:solidFill>
              <a:effectLst/>
            </c:spPr>
            <c:extLst>
              <c:ext xmlns:c16="http://schemas.microsoft.com/office/drawing/2014/chart" uri="{C3380CC4-5D6E-409C-BE32-E72D297353CC}">
                <c16:uniqueId val="{0000000F-AE06-4BBF-9D12-C76C35819008}"/>
              </c:ext>
            </c:extLst>
          </c:dPt>
          <c:dPt>
            <c:idx val="8"/>
            <c:invertIfNegative val="0"/>
            <c:bubble3D val="0"/>
            <c:spPr>
              <a:solidFill>
                <a:srgbClr val="A26769"/>
              </a:solidFill>
              <a:effectLst/>
            </c:spPr>
            <c:extLst>
              <c:ext xmlns:c16="http://schemas.microsoft.com/office/drawing/2014/chart" uri="{C3380CC4-5D6E-409C-BE32-E72D297353CC}">
                <c16:uniqueId val="{00000011-AE06-4BBF-9D12-C76C35819008}"/>
              </c:ext>
            </c:extLst>
          </c:dPt>
          <c:dPt>
            <c:idx val="9"/>
            <c:invertIfNegative val="0"/>
            <c:bubble3D val="0"/>
            <c:spPr>
              <a:solidFill>
                <a:srgbClr val="A26769"/>
              </a:solidFill>
              <a:effectLst/>
            </c:spPr>
            <c:extLst>
              <c:ext xmlns:c16="http://schemas.microsoft.com/office/drawing/2014/chart" uri="{C3380CC4-5D6E-409C-BE32-E72D297353CC}">
                <c16:uniqueId val="{00000013-AE06-4BBF-9D12-C76C35819008}"/>
              </c:ext>
            </c:extLst>
          </c:dPt>
          <c:cat>
            <c:strRef>
              <c:f>Sheet1!$A$2:$A$11</c:f>
              <c:strCache>
                <c:ptCount val="10"/>
                <c:pt idx="0">
                  <c:v>Logitech</c:v>
                </c:pt>
                <c:pt idx="1">
                  <c:v>Acer</c:v>
                </c:pt>
                <c:pt idx="2">
                  <c:v>TECKNET</c:v>
                </c:pt>
                <c:pt idx="3">
                  <c:v>HP</c:v>
                </c:pt>
                <c:pt idx="4">
                  <c:v>Razer</c:v>
                </c:pt>
                <c:pt idx="5">
                  <c:v>Sceptre</c:v>
                </c:pt>
                <c:pt idx="6">
                  <c:v>Dell</c:v>
                </c:pt>
                <c:pt idx="7">
                  <c:v>SAMSUNG</c:v>
                </c:pt>
                <c:pt idx="8">
                  <c:v>ASUS</c:v>
                </c:pt>
                <c:pt idx="9">
                  <c:v>PHILIPS</c:v>
                </c:pt>
              </c:strCache>
            </c:strRef>
          </c:cat>
          <c:val>
            <c:numRef>
              <c:f>Sheet1!$B$2:$B$11</c:f>
              <c:numCache>
                <c:formatCode>General</c:formatCode>
                <c:ptCount val="10"/>
                <c:pt idx="0">
                  <c:v>339100</c:v>
                </c:pt>
                <c:pt idx="1">
                  <c:v>62600</c:v>
                </c:pt>
                <c:pt idx="2">
                  <c:v>38050</c:v>
                </c:pt>
                <c:pt idx="3">
                  <c:v>36700</c:v>
                </c:pt>
                <c:pt idx="4">
                  <c:v>36250</c:v>
                </c:pt>
                <c:pt idx="5">
                  <c:v>36100</c:v>
                </c:pt>
                <c:pt idx="6">
                  <c:v>30100</c:v>
                </c:pt>
                <c:pt idx="7">
                  <c:v>23050</c:v>
                </c:pt>
                <c:pt idx="8">
                  <c:v>20150</c:v>
                </c:pt>
                <c:pt idx="9">
                  <c:v>17550</c:v>
                </c:pt>
              </c:numCache>
            </c:numRef>
          </c:val>
          <c:extLst>
            <c:ext xmlns:c16="http://schemas.microsoft.com/office/drawing/2014/chart" uri="{C3380CC4-5D6E-409C-BE32-E72D297353CC}">
              <c16:uniqueId val="{00000014-AE06-4BBF-9D12-C76C3581900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8B6B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8DD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0" i="0" u="none" strike="noStrike">
                <a:solidFill>
                  <a:srgbClr val="2C1810"/>
                </a:solidFill>
                <a:latin typeface="Arial"/>
              </a:defRPr>
            </a:pPr>
            <a:r>
              <a:rPr lang="en-US" sz="1200" b="0" i="0" u="none" strike="noStrike">
                <a:solidFill>
                  <a:srgbClr val="2C1810"/>
                </a:solidFill>
                <a:latin typeface="Arial"/>
              </a:rPr>
              <a:t>Top Brands by Average Rating</a:t>
            </a:r>
          </a:p>
        </c:rich>
      </c:tx>
      <c:overlay val="0"/>
    </c:title>
    <c:autoTitleDeleted val="0"/>
    <c:plotArea>
      <c:layout/>
      <c:barChart>
        <c:barDir val="bar"/>
        <c:grouping val="clustered"/>
        <c:varyColors val="0"/>
        <c:ser>
          <c:idx val="0"/>
          <c:order val="0"/>
          <c:tx>
            <c:strRef>
              <c:f>Sheet1!$B$1</c:f>
              <c:strCache>
                <c:ptCount val="1"/>
                <c:pt idx="0">
                  <c:v>Avg Rating</c:v>
                </c:pt>
              </c:strCache>
            </c:strRef>
          </c:tx>
          <c:spPr>
            <a:solidFill>
              <a:srgbClr val="6D2E46"/>
            </a:solidFill>
            <a:effectLst/>
          </c:spPr>
          <c:invertIfNegative val="0"/>
          <c:dPt>
            <c:idx val="0"/>
            <c:invertIfNegative val="0"/>
            <c:bubble3D val="0"/>
            <c:extLst>
              <c:ext xmlns:c16="http://schemas.microsoft.com/office/drawing/2014/chart" uri="{C3380CC4-5D6E-409C-BE32-E72D297353CC}">
                <c16:uniqueId val="{00000001-5B55-4EF6-A3F3-8C9A2C735ACF}"/>
              </c:ext>
            </c:extLst>
          </c:dPt>
          <c:dPt>
            <c:idx val="1"/>
            <c:invertIfNegative val="0"/>
            <c:bubble3D val="0"/>
            <c:extLst>
              <c:ext xmlns:c16="http://schemas.microsoft.com/office/drawing/2014/chart" uri="{C3380CC4-5D6E-409C-BE32-E72D297353CC}">
                <c16:uniqueId val="{00000003-5B55-4EF6-A3F3-8C9A2C735ACF}"/>
              </c:ext>
            </c:extLst>
          </c:dPt>
          <c:dPt>
            <c:idx val="2"/>
            <c:invertIfNegative val="0"/>
            <c:bubble3D val="0"/>
            <c:spPr>
              <a:solidFill>
                <a:srgbClr val="A26769"/>
              </a:solidFill>
              <a:effectLst/>
            </c:spPr>
            <c:extLst>
              <c:ext xmlns:c16="http://schemas.microsoft.com/office/drawing/2014/chart" uri="{C3380CC4-5D6E-409C-BE32-E72D297353CC}">
                <c16:uniqueId val="{00000005-5B55-4EF6-A3F3-8C9A2C735ACF}"/>
              </c:ext>
            </c:extLst>
          </c:dPt>
          <c:dPt>
            <c:idx val="3"/>
            <c:invertIfNegative val="0"/>
            <c:bubble3D val="0"/>
            <c:spPr>
              <a:solidFill>
                <a:srgbClr val="A26769"/>
              </a:solidFill>
              <a:effectLst/>
            </c:spPr>
            <c:extLst>
              <c:ext xmlns:c16="http://schemas.microsoft.com/office/drawing/2014/chart" uri="{C3380CC4-5D6E-409C-BE32-E72D297353CC}">
                <c16:uniqueId val="{00000007-5B55-4EF6-A3F3-8C9A2C735ACF}"/>
              </c:ext>
            </c:extLst>
          </c:dPt>
          <c:dPt>
            <c:idx val="4"/>
            <c:invertIfNegative val="0"/>
            <c:bubble3D val="0"/>
            <c:spPr>
              <a:solidFill>
                <a:srgbClr val="A26769"/>
              </a:solidFill>
              <a:effectLst/>
            </c:spPr>
            <c:extLst>
              <c:ext xmlns:c16="http://schemas.microsoft.com/office/drawing/2014/chart" uri="{C3380CC4-5D6E-409C-BE32-E72D297353CC}">
                <c16:uniqueId val="{00000009-5B55-4EF6-A3F3-8C9A2C735ACF}"/>
              </c:ext>
            </c:extLst>
          </c:dPt>
          <c:dPt>
            <c:idx val="5"/>
            <c:invertIfNegative val="0"/>
            <c:bubble3D val="0"/>
            <c:spPr>
              <a:solidFill>
                <a:srgbClr val="A26769"/>
              </a:solidFill>
              <a:effectLst/>
            </c:spPr>
            <c:extLst>
              <c:ext xmlns:c16="http://schemas.microsoft.com/office/drawing/2014/chart" uri="{C3380CC4-5D6E-409C-BE32-E72D297353CC}">
                <c16:uniqueId val="{0000000B-5B55-4EF6-A3F3-8C9A2C735ACF}"/>
              </c:ext>
            </c:extLst>
          </c:dPt>
          <c:dPt>
            <c:idx val="6"/>
            <c:invertIfNegative val="0"/>
            <c:bubble3D val="0"/>
            <c:spPr>
              <a:solidFill>
                <a:srgbClr val="A26769"/>
              </a:solidFill>
              <a:effectLst/>
            </c:spPr>
            <c:extLst>
              <c:ext xmlns:c16="http://schemas.microsoft.com/office/drawing/2014/chart" uri="{C3380CC4-5D6E-409C-BE32-E72D297353CC}">
                <c16:uniqueId val="{0000000D-5B55-4EF6-A3F3-8C9A2C735ACF}"/>
              </c:ext>
            </c:extLst>
          </c:dPt>
          <c:dPt>
            <c:idx val="7"/>
            <c:invertIfNegative val="0"/>
            <c:bubble3D val="0"/>
            <c:spPr>
              <a:solidFill>
                <a:srgbClr val="A26769"/>
              </a:solidFill>
              <a:effectLst/>
            </c:spPr>
            <c:extLst>
              <c:ext xmlns:c16="http://schemas.microsoft.com/office/drawing/2014/chart" uri="{C3380CC4-5D6E-409C-BE32-E72D297353CC}">
                <c16:uniqueId val="{0000000F-5B55-4EF6-A3F3-8C9A2C735ACF}"/>
              </c:ext>
            </c:extLst>
          </c:dPt>
          <c:dPt>
            <c:idx val="8"/>
            <c:invertIfNegative val="0"/>
            <c:bubble3D val="0"/>
            <c:spPr>
              <a:solidFill>
                <a:srgbClr val="A26769"/>
              </a:solidFill>
              <a:effectLst/>
            </c:spPr>
            <c:extLst>
              <c:ext xmlns:c16="http://schemas.microsoft.com/office/drawing/2014/chart" uri="{C3380CC4-5D6E-409C-BE32-E72D297353CC}">
                <c16:uniqueId val="{00000011-5B55-4EF6-A3F3-8C9A2C735ACF}"/>
              </c:ext>
            </c:extLst>
          </c:dPt>
          <c:cat>
            <c:strRef>
              <c:f>Sheet1!$A$2:$A$10</c:f>
              <c:strCache>
                <c:ptCount val="9"/>
                <c:pt idx="0">
                  <c:v>AOC</c:v>
                </c:pt>
                <c:pt idx="1">
                  <c:v>LOVEVOOK</c:v>
                </c:pt>
                <c:pt idx="2">
                  <c:v>ACEMAGIC</c:v>
                </c:pt>
                <c:pt idx="3">
                  <c:v>KOORUI</c:v>
                </c:pt>
                <c:pt idx="4">
                  <c:v>Logitech</c:v>
                </c:pt>
                <c:pt idx="5">
                  <c:v>Corsair</c:v>
                </c:pt>
                <c:pt idx="6">
                  <c:v>BenQ</c:v>
                </c:pt>
                <c:pt idx="7">
                  <c:v>Microsoft</c:v>
                </c:pt>
                <c:pt idx="8">
                  <c:v>Sceptre</c:v>
                </c:pt>
              </c:strCache>
            </c:strRef>
          </c:cat>
          <c:val>
            <c:numRef>
              <c:f>Sheet1!$B$2:$B$10</c:f>
              <c:numCache>
                <c:formatCode>General</c:formatCode>
                <c:ptCount val="9"/>
                <c:pt idx="0">
                  <c:v>4.5999999999999996</c:v>
                </c:pt>
                <c:pt idx="1">
                  <c:v>4.5999999999999996</c:v>
                </c:pt>
                <c:pt idx="2">
                  <c:v>4.5999999999999996</c:v>
                </c:pt>
                <c:pt idx="3">
                  <c:v>4.5</c:v>
                </c:pt>
                <c:pt idx="4">
                  <c:v>4.5</c:v>
                </c:pt>
                <c:pt idx="5">
                  <c:v>4.5</c:v>
                </c:pt>
                <c:pt idx="6">
                  <c:v>4.5</c:v>
                </c:pt>
                <c:pt idx="7">
                  <c:v>4.5</c:v>
                </c:pt>
                <c:pt idx="8">
                  <c:v>4.5</c:v>
                </c:pt>
              </c:numCache>
            </c:numRef>
          </c:val>
          <c:extLst>
            <c:ext xmlns:c16="http://schemas.microsoft.com/office/drawing/2014/chart" uri="{C3380CC4-5D6E-409C-BE32-E72D297353CC}">
              <c16:uniqueId val="{00000012-5B55-4EF6-A3F3-8C9A2C735AC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8B6B6B"/>
                </a:solidFill>
                <a:latin typeface="Arial"/>
              </a:defRPr>
            </a:pPr>
            <a:endParaRPr lang="en-US"/>
          </a:p>
        </c:txPr>
        <c:crossAx val="2094734552"/>
        <c:crosses val="autoZero"/>
        <c:auto val="1"/>
        <c:lblAlgn val="ctr"/>
        <c:lblOffset val="100"/>
        <c:noMultiLvlLbl val="1"/>
      </c:catAx>
      <c:valAx>
        <c:axId val="2094734552"/>
        <c:scaling>
          <c:orientation val="minMax"/>
          <c:max val="5"/>
          <c:min val="4"/>
        </c:scaling>
        <c:delete val="0"/>
        <c:axPos val="b"/>
        <c:majorGridlines>
          <c:spPr>
            <a:ln w="6350" cap="flat">
              <a:solidFill>
                <a:srgbClr val="E8DD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2C1810"/>
                </a:solidFill>
                <a:latin typeface="Arial"/>
              </a:defRPr>
            </a:pPr>
            <a:r>
              <a:rPr lang="en-US" sz="1100" b="0" i="0" u="none" strike="noStrike">
                <a:solidFill>
                  <a:srgbClr val="2C1810"/>
                </a:solidFill>
                <a:latin typeface="Arial"/>
              </a:rPr>
              <a:t>More Reviews = Higher Ratings</a:t>
            </a:r>
          </a:p>
        </c:rich>
      </c:tx>
      <c:overlay val="0"/>
    </c:title>
    <c:autoTitleDeleted val="0"/>
    <c:plotArea>
      <c:layout/>
      <c:lineChart>
        <c:grouping val="standard"/>
        <c:varyColors val="0"/>
        <c:ser>
          <c:idx val="0"/>
          <c:order val="0"/>
          <c:tx>
            <c:strRef>
              <c:f>Sheet1!$B$1</c:f>
              <c:strCache>
                <c:ptCount val="1"/>
                <c:pt idx="0">
                  <c:v>Avg Rating</c:v>
                </c:pt>
              </c:strCache>
            </c:strRef>
          </c:tx>
          <c:spPr>
            <a:ln w="31750" cap="flat">
              <a:solidFill>
                <a:srgbClr val="A26769"/>
              </a:solidFill>
              <a:prstDash val="solid"/>
              <a:round/>
            </a:ln>
            <a:effectLst/>
          </c:spPr>
          <c:marker>
            <c:symbol val="circle"/>
            <c:size val="6"/>
            <c:spPr>
              <a:solidFill>
                <a:srgbClr val="A26769"/>
              </a:solidFill>
              <a:ln w="9525" cap="flat">
                <a:solidFill>
                  <a:srgbClr val="A26769"/>
                </a:solidFill>
                <a:prstDash val="solid"/>
                <a:round/>
              </a:ln>
              <a:effectLst/>
            </c:spPr>
          </c:marker>
          <c:cat>
            <c:strRef>
              <c:f>Sheet1!$A$2:$A$6</c:f>
              <c:strCache>
                <c:ptCount val="5"/>
                <c:pt idx="0">
                  <c:v>&lt;100 reviews</c:v>
                </c:pt>
                <c:pt idx="1">
                  <c:v>100–1K</c:v>
                </c:pt>
                <c:pt idx="2">
                  <c:v>1K–10K</c:v>
                </c:pt>
                <c:pt idx="3">
                  <c:v>10K–50K</c:v>
                </c:pt>
                <c:pt idx="4">
                  <c:v>&gt;50K</c:v>
                </c:pt>
              </c:strCache>
            </c:strRef>
          </c:cat>
          <c:val>
            <c:numRef>
              <c:f>Sheet1!$B$2:$B$6</c:f>
              <c:numCache>
                <c:formatCode>General</c:formatCode>
                <c:ptCount val="5"/>
                <c:pt idx="0">
                  <c:v>4.4000000000000004</c:v>
                </c:pt>
                <c:pt idx="1">
                  <c:v>4.4000000000000004</c:v>
                </c:pt>
                <c:pt idx="2">
                  <c:v>4.5</c:v>
                </c:pt>
                <c:pt idx="3">
                  <c:v>4.5999999999999996</c:v>
                </c:pt>
                <c:pt idx="4">
                  <c:v>4.5999999999999996</c:v>
                </c:pt>
              </c:numCache>
            </c:numRef>
          </c:val>
          <c:smooth val="1"/>
          <c:extLst>
            <c:ext xmlns:c16="http://schemas.microsoft.com/office/drawing/2014/chart" uri="{C3380CC4-5D6E-409C-BE32-E72D297353CC}">
              <c16:uniqueId val="{00000000-8D3A-43E9-B8E3-8A331B9B52F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6B6B"/>
                </a:solidFill>
                <a:latin typeface="Arial"/>
              </a:defRPr>
            </a:pPr>
            <a:endParaRPr lang="en-US"/>
          </a:p>
        </c:txPr>
        <c:crossAx val="2094734552"/>
        <c:crosses val="autoZero"/>
        <c:auto val="1"/>
        <c:lblAlgn val="ctr"/>
        <c:lblOffset val="100"/>
        <c:noMultiLvlLbl val="1"/>
      </c:catAx>
      <c:valAx>
        <c:axId val="2094734552"/>
        <c:scaling>
          <c:orientation val="minMax"/>
          <c:max val="4.8"/>
          <c:min val="4.2"/>
        </c:scaling>
        <c:delete val="0"/>
        <c:axPos val="l"/>
        <c:majorGridlines>
          <c:spPr>
            <a:ln w="6350" cap="flat">
              <a:solidFill>
                <a:srgbClr val="E8DD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0229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5"/>
        </a:solidFill>
        <a:effectLst/>
      </p:bgPr>
    </p:bg>
    <p:spTree>
      <p:nvGrpSpPr>
        <p:cNvPr id="1" name=""/>
        <p:cNvGrpSpPr/>
        <p:nvPr/>
      </p:nvGrpSpPr>
      <p:grpSpPr>
        <a:xfrm>
          <a:off x="0" y="0"/>
          <a:ext cx="0" cy="0"/>
          <a:chOff x="0" y="0"/>
          <a:chExt cx="0" cy="0"/>
        </a:xfrm>
      </p:grpSpPr>
      <p:sp>
        <p:nvSpPr>
          <p:cNvPr id="3" name="Shape 1"/>
          <p:cNvSpPr/>
          <p:nvPr/>
        </p:nvSpPr>
        <p:spPr>
          <a:xfrm>
            <a:off x="548640" y="457200"/>
            <a:ext cx="822960" cy="320040"/>
          </a:xfrm>
          <a:prstGeom prst="roundRect">
            <a:avLst>
              <a:gd name="adj" fmla="val 14286"/>
            </a:avLst>
          </a:prstGeom>
          <a:solidFill>
            <a:srgbClr val="6D2E46"/>
          </a:solidFill>
          <a:ln w="12700">
            <a:solidFill>
              <a:srgbClr val="6D2E46"/>
            </a:solidFill>
            <a:prstDash val="solid"/>
          </a:ln>
        </p:spPr>
        <p:txBody>
          <a:bodyPr/>
          <a:lstStyle/>
          <a:p>
            <a:endParaRPr lang="en-US"/>
          </a:p>
        </p:txBody>
      </p:sp>
      <p:sp>
        <p:nvSpPr>
          <p:cNvPr id="4" name="Text 2"/>
          <p:cNvSpPr/>
          <p:nvPr/>
        </p:nvSpPr>
        <p:spPr>
          <a:xfrm>
            <a:off x="548640" y="457200"/>
            <a:ext cx="822960" cy="32004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PROJECT 04</a:t>
            </a:r>
            <a:endParaRPr lang="en-US" sz="800" dirty="0"/>
          </a:p>
        </p:txBody>
      </p:sp>
      <p:sp>
        <p:nvSpPr>
          <p:cNvPr id="5" name="Text 3"/>
          <p:cNvSpPr/>
          <p:nvPr/>
        </p:nvSpPr>
        <p:spPr>
          <a:xfrm>
            <a:off x="548640" y="1005840"/>
            <a:ext cx="7315200" cy="914400"/>
          </a:xfrm>
          <a:prstGeom prst="rect">
            <a:avLst/>
          </a:prstGeom>
          <a:noFill/>
          <a:ln/>
        </p:spPr>
        <p:txBody>
          <a:bodyPr wrap="square" rtlCol="0" anchor="ctr"/>
          <a:lstStyle/>
          <a:p>
            <a:pPr marL="0" indent="0" algn="l">
              <a:buNone/>
            </a:pPr>
            <a:r>
              <a:rPr lang="en-US" sz="4400" b="1" dirty="0">
                <a:solidFill>
                  <a:srgbClr val="2C1810"/>
                </a:solidFill>
                <a:latin typeface="Georgia" pitchFamily="34" charset="0"/>
                <a:ea typeface="Georgia" pitchFamily="34" charset="-122"/>
                <a:cs typeface="Georgia" pitchFamily="34" charset="-120"/>
              </a:rPr>
              <a:t>Market Analysis</a:t>
            </a:r>
            <a:endParaRPr lang="en-US" sz="4400" dirty="0"/>
          </a:p>
        </p:txBody>
      </p:sp>
      <p:sp>
        <p:nvSpPr>
          <p:cNvPr id="6" name="Text 4"/>
          <p:cNvSpPr/>
          <p:nvPr/>
        </p:nvSpPr>
        <p:spPr>
          <a:xfrm>
            <a:off x="548640" y="1783080"/>
            <a:ext cx="8429822" cy="822960"/>
          </a:xfrm>
          <a:prstGeom prst="rect">
            <a:avLst/>
          </a:prstGeom>
          <a:noFill/>
          <a:ln/>
        </p:spPr>
        <p:txBody>
          <a:bodyPr wrap="square" rtlCol="0" anchor="ctr"/>
          <a:lstStyle/>
          <a:p>
            <a:pPr marL="0" indent="0" algn="l">
              <a:buNone/>
            </a:pPr>
            <a:r>
              <a:rPr lang="en-US" sz="4400" b="1" dirty="0">
                <a:solidFill>
                  <a:srgbClr val="6D2E46"/>
                </a:solidFill>
                <a:latin typeface="Georgia" pitchFamily="34" charset="0"/>
                <a:ea typeface="Georgia" pitchFamily="34" charset="-122"/>
                <a:cs typeface="Georgia" pitchFamily="34" charset="-120"/>
              </a:rPr>
              <a:t>Amazon Electronic Products</a:t>
            </a:r>
            <a:endParaRPr lang="en-US" sz="4400" dirty="0"/>
          </a:p>
        </p:txBody>
      </p:sp>
      <p:sp>
        <p:nvSpPr>
          <p:cNvPr id="7" name="Text 5"/>
          <p:cNvSpPr/>
          <p:nvPr/>
        </p:nvSpPr>
        <p:spPr>
          <a:xfrm>
            <a:off x="548640" y="2697480"/>
            <a:ext cx="7315200" cy="365760"/>
          </a:xfrm>
          <a:prstGeom prst="rect">
            <a:avLst/>
          </a:prstGeom>
          <a:noFill/>
          <a:ln/>
        </p:spPr>
        <p:txBody>
          <a:bodyPr wrap="square" rtlCol="0" anchor="ctr"/>
          <a:lstStyle/>
          <a:p>
            <a:pPr marL="0" indent="0" algn="l">
              <a:buNone/>
            </a:pPr>
            <a:r>
              <a:rPr lang="en-US" sz="1300" dirty="0">
                <a:solidFill>
                  <a:srgbClr val="8B6B6B"/>
                </a:solidFill>
                <a:latin typeface="Calibri" pitchFamily="34" charset="0"/>
                <a:ea typeface="Calibri" pitchFamily="34" charset="-122"/>
                <a:cs typeface="Calibri" pitchFamily="34" charset="-120"/>
              </a:rPr>
              <a:t>Pricing Strategy · Best Sellers · Customer Satisfaction</a:t>
            </a:r>
            <a:endParaRPr lang="en-US" sz="1300" dirty="0"/>
          </a:p>
        </p:txBody>
      </p:sp>
      <p:sp>
        <p:nvSpPr>
          <p:cNvPr id="8" name="Shape 6"/>
          <p:cNvSpPr/>
          <p:nvPr/>
        </p:nvSpPr>
        <p:spPr>
          <a:xfrm>
            <a:off x="548640" y="3246120"/>
            <a:ext cx="3200400" cy="0"/>
          </a:xfrm>
          <a:prstGeom prst="line">
            <a:avLst/>
          </a:prstGeom>
          <a:noFill/>
          <a:ln w="19050">
            <a:solidFill>
              <a:srgbClr val="A26769"/>
            </a:solidFill>
            <a:prstDash val="solid"/>
          </a:ln>
        </p:spPr>
        <p:txBody>
          <a:bodyPr/>
          <a:lstStyle/>
          <a:p>
            <a:endParaRPr lang="en-US"/>
          </a:p>
        </p:txBody>
      </p:sp>
      <p:sp>
        <p:nvSpPr>
          <p:cNvPr id="9" name="Shape 7"/>
          <p:cNvSpPr/>
          <p:nvPr/>
        </p:nvSpPr>
        <p:spPr>
          <a:xfrm>
            <a:off x="548640" y="3474720"/>
            <a:ext cx="1097280"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10" name="Text 8"/>
          <p:cNvSpPr/>
          <p:nvPr/>
        </p:nvSpPr>
        <p:spPr>
          <a:xfrm>
            <a:off x="548640" y="3474720"/>
            <a:ext cx="1097280" cy="292608"/>
          </a:xfrm>
          <a:prstGeom prst="rect">
            <a:avLst/>
          </a:prstGeom>
          <a:noFill/>
          <a:ln/>
        </p:spPr>
        <p:txBody>
          <a:bodyPr wrap="square" rtlCol="0" anchor="ctr"/>
          <a:lstStyle/>
          <a:p>
            <a:pPr marL="0" indent="0" algn="ctr">
              <a:buNone/>
            </a:pPr>
            <a:r>
              <a:rPr lang="en-US" sz="1000" dirty="0">
                <a:solidFill>
                  <a:srgbClr val="6D2E46"/>
                </a:solidFill>
                <a:latin typeface="Calibri" pitchFamily="34" charset="0"/>
                <a:ea typeface="Calibri" pitchFamily="34" charset="-122"/>
                <a:cs typeface="Calibri" pitchFamily="34" charset="-120"/>
              </a:rPr>
              <a:t>Python</a:t>
            </a:r>
            <a:endParaRPr lang="en-US" sz="1000" dirty="0"/>
          </a:p>
        </p:txBody>
      </p:sp>
      <p:sp>
        <p:nvSpPr>
          <p:cNvPr id="11" name="Shape 9"/>
          <p:cNvSpPr/>
          <p:nvPr/>
        </p:nvSpPr>
        <p:spPr>
          <a:xfrm>
            <a:off x="1737360" y="3474720"/>
            <a:ext cx="1097280"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12" name="Text 10"/>
          <p:cNvSpPr/>
          <p:nvPr/>
        </p:nvSpPr>
        <p:spPr>
          <a:xfrm>
            <a:off x="1737360" y="3474720"/>
            <a:ext cx="1097280" cy="292608"/>
          </a:xfrm>
          <a:prstGeom prst="rect">
            <a:avLst/>
          </a:prstGeom>
          <a:noFill/>
          <a:ln/>
        </p:spPr>
        <p:txBody>
          <a:bodyPr wrap="square" rtlCol="0" anchor="ctr"/>
          <a:lstStyle/>
          <a:p>
            <a:pPr marL="0" indent="0" algn="ctr">
              <a:buNone/>
            </a:pPr>
            <a:r>
              <a:rPr lang="en-US" sz="1000" dirty="0">
                <a:solidFill>
                  <a:srgbClr val="6D2E46"/>
                </a:solidFill>
                <a:latin typeface="Calibri" pitchFamily="34" charset="0"/>
                <a:ea typeface="Calibri" pitchFamily="34" charset="-122"/>
                <a:cs typeface="Calibri" pitchFamily="34" charset="-120"/>
              </a:rPr>
              <a:t>SQL Server</a:t>
            </a:r>
            <a:endParaRPr lang="en-US" sz="1000" dirty="0"/>
          </a:p>
        </p:txBody>
      </p:sp>
      <p:sp>
        <p:nvSpPr>
          <p:cNvPr id="13" name="Shape 11"/>
          <p:cNvSpPr/>
          <p:nvPr/>
        </p:nvSpPr>
        <p:spPr>
          <a:xfrm>
            <a:off x="2926080" y="3474720"/>
            <a:ext cx="1097280"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14" name="Text 12"/>
          <p:cNvSpPr/>
          <p:nvPr/>
        </p:nvSpPr>
        <p:spPr>
          <a:xfrm>
            <a:off x="2926080" y="3474720"/>
            <a:ext cx="1097280" cy="292608"/>
          </a:xfrm>
          <a:prstGeom prst="rect">
            <a:avLst/>
          </a:prstGeom>
          <a:noFill/>
          <a:ln/>
        </p:spPr>
        <p:txBody>
          <a:bodyPr wrap="square" rtlCol="0" anchor="ctr"/>
          <a:lstStyle/>
          <a:p>
            <a:pPr marL="0" indent="0" algn="ctr">
              <a:buNone/>
            </a:pPr>
            <a:r>
              <a:rPr lang="en-US" sz="1000" dirty="0">
                <a:solidFill>
                  <a:srgbClr val="6D2E46"/>
                </a:solidFill>
                <a:latin typeface="Calibri" pitchFamily="34" charset="0"/>
                <a:ea typeface="Calibri" pitchFamily="34" charset="-122"/>
                <a:cs typeface="Calibri" pitchFamily="34" charset="-120"/>
              </a:rPr>
              <a:t>Power BI</a:t>
            </a:r>
            <a:endParaRPr lang="en-US" sz="1000" dirty="0"/>
          </a:p>
        </p:txBody>
      </p:sp>
      <p:sp>
        <p:nvSpPr>
          <p:cNvPr id="15" name="Text 13"/>
          <p:cNvSpPr/>
          <p:nvPr/>
        </p:nvSpPr>
        <p:spPr>
          <a:xfrm>
            <a:off x="548640" y="4526280"/>
            <a:ext cx="3657600" cy="274320"/>
          </a:xfrm>
          <a:prstGeom prst="rect">
            <a:avLst/>
          </a:prstGeom>
          <a:noFill/>
          <a:ln/>
        </p:spPr>
        <p:txBody>
          <a:bodyPr wrap="square" rtlCol="0" anchor="ctr"/>
          <a:lstStyle/>
          <a:p>
            <a:pPr marL="0" indent="0">
              <a:buNone/>
            </a:pPr>
            <a:r>
              <a:rPr lang="en-US" sz="1000" i="1" dirty="0">
                <a:solidFill>
                  <a:srgbClr val="8B6B6B"/>
                </a:solidFill>
                <a:latin typeface="Calibri" pitchFamily="34" charset="0"/>
                <a:ea typeface="Calibri" pitchFamily="34" charset="-122"/>
                <a:cs typeface="Calibri" pitchFamily="34" charset="-120"/>
              </a:rPr>
              <a:t>April 2026  ·  Raneem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rtlCol="0" anchor="ctr"/>
          <a:lstStyle/>
          <a:p>
            <a:pPr marL="0" indent="0">
              <a:buNone/>
            </a:pPr>
            <a:r>
              <a:rPr lang="en-US" sz="2800" b="1" dirty="0">
                <a:solidFill>
                  <a:srgbClr val="2C1810"/>
                </a:solidFill>
                <a:latin typeface="Georgia" pitchFamily="34" charset="0"/>
                <a:ea typeface="Georgia" pitchFamily="34" charset="-122"/>
                <a:cs typeface="Georgia" pitchFamily="34" charset="-120"/>
              </a:rPr>
              <a:t>Project Overview</a:t>
            </a:r>
            <a:endParaRPr lang="en-US" sz="2800" dirty="0"/>
          </a:p>
        </p:txBody>
      </p:sp>
      <p:sp>
        <p:nvSpPr>
          <p:cNvPr id="3" name="Shape 1"/>
          <p:cNvSpPr/>
          <p:nvPr/>
        </p:nvSpPr>
        <p:spPr>
          <a:xfrm>
            <a:off x="548640" y="914400"/>
            <a:ext cx="8046720" cy="0"/>
          </a:xfrm>
          <a:prstGeom prst="line">
            <a:avLst/>
          </a:prstGeom>
          <a:noFill/>
          <a:ln w="6350">
            <a:solidFill>
              <a:srgbClr val="E8DDD8"/>
            </a:solidFill>
            <a:prstDash val="solid"/>
          </a:ln>
        </p:spPr>
        <p:txBody>
          <a:bodyPr/>
          <a:lstStyle/>
          <a:p>
            <a:endParaRPr lang="en-US"/>
          </a:p>
        </p:txBody>
      </p:sp>
      <p:sp>
        <p:nvSpPr>
          <p:cNvPr id="4" name="Shape 2"/>
          <p:cNvSpPr/>
          <p:nvPr/>
        </p:nvSpPr>
        <p:spPr>
          <a:xfrm>
            <a:off x="457200" y="1097280"/>
            <a:ext cx="2651760" cy="347472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5" name="Text 3"/>
          <p:cNvSpPr/>
          <p:nvPr/>
        </p:nvSpPr>
        <p:spPr>
          <a:xfrm>
            <a:off x="1828800" y="1005840"/>
            <a:ext cx="1188720" cy="1005840"/>
          </a:xfrm>
          <a:prstGeom prst="rect">
            <a:avLst/>
          </a:prstGeom>
          <a:noFill/>
          <a:ln/>
        </p:spPr>
        <p:txBody>
          <a:bodyPr wrap="square" rtlCol="0" anchor="ctr"/>
          <a:lstStyle/>
          <a:p>
            <a:pPr marL="0" indent="0" algn="r">
              <a:buNone/>
            </a:pPr>
            <a:r>
              <a:rPr lang="en-US" sz="6000" b="1" dirty="0">
                <a:solidFill>
                  <a:srgbClr val="F5EFEC"/>
                </a:solidFill>
                <a:latin typeface="Georgia" pitchFamily="34" charset="0"/>
                <a:ea typeface="Georgia" pitchFamily="34" charset="-122"/>
                <a:cs typeface="Georgia" pitchFamily="34" charset="-120"/>
              </a:rPr>
              <a:t>01</a:t>
            </a:r>
            <a:endParaRPr lang="en-US" sz="6000" dirty="0"/>
          </a:p>
        </p:txBody>
      </p:sp>
      <p:sp>
        <p:nvSpPr>
          <p:cNvPr id="6" name="Text 4"/>
          <p:cNvSpPr/>
          <p:nvPr/>
        </p:nvSpPr>
        <p:spPr>
          <a:xfrm>
            <a:off x="640080" y="1417320"/>
            <a:ext cx="2286000" cy="457200"/>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Business Problem</a:t>
            </a:r>
            <a:endParaRPr lang="en-US" sz="1300" dirty="0"/>
          </a:p>
        </p:txBody>
      </p:sp>
      <p:sp>
        <p:nvSpPr>
          <p:cNvPr id="7" name="Text 5"/>
          <p:cNvSpPr/>
          <p:nvPr/>
        </p:nvSpPr>
        <p:spPr>
          <a:xfrm>
            <a:off x="640080" y="1965960"/>
            <a:ext cx="2331720" cy="2286000"/>
          </a:xfrm>
          <a:prstGeom prst="rect">
            <a:avLst/>
          </a:prstGeom>
          <a:noFill/>
          <a:ln/>
        </p:spPr>
        <p:txBody>
          <a:bodyPr wrap="square" rtlCol="0" anchor="t"/>
          <a:lstStyle/>
          <a:p>
            <a:pPr marL="0" indent="0">
              <a:buNone/>
            </a:pPr>
            <a:r>
              <a:rPr lang="en-US" sz="1100" dirty="0">
                <a:solidFill>
                  <a:srgbClr val="2C1810"/>
                </a:solidFill>
                <a:latin typeface="Calibri" pitchFamily="34" charset="0"/>
                <a:ea typeface="Calibri" pitchFamily="34" charset="-122"/>
                <a:cs typeface="Calibri" pitchFamily="34" charset="-120"/>
              </a:rPr>
              <a:t>A company considering launching on Amazon needed data-driven insights into pricing, competition, and customer behavior.</a:t>
            </a:r>
            <a:endParaRPr lang="en-US" sz="1100" dirty="0"/>
          </a:p>
        </p:txBody>
      </p:sp>
      <p:sp>
        <p:nvSpPr>
          <p:cNvPr id="8" name="Shape 6"/>
          <p:cNvSpPr/>
          <p:nvPr/>
        </p:nvSpPr>
        <p:spPr>
          <a:xfrm>
            <a:off x="3291840" y="1097280"/>
            <a:ext cx="2651760" cy="347472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9" name="Text 7"/>
          <p:cNvSpPr/>
          <p:nvPr/>
        </p:nvSpPr>
        <p:spPr>
          <a:xfrm>
            <a:off x="4526280" y="888387"/>
            <a:ext cx="1417320" cy="1217098"/>
          </a:xfrm>
          <a:prstGeom prst="rect">
            <a:avLst/>
          </a:prstGeom>
          <a:noFill/>
          <a:ln/>
        </p:spPr>
        <p:txBody>
          <a:bodyPr wrap="square" rtlCol="0" anchor="ctr"/>
          <a:lstStyle/>
          <a:p>
            <a:pPr marL="0" indent="0" algn="r">
              <a:buNone/>
            </a:pPr>
            <a:r>
              <a:rPr lang="en-US" sz="6000" b="1" dirty="0">
                <a:solidFill>
                  <a:srgbClr val="F5EFEC"/>
                </a:solidFill>
                <a:latin typeface="Georgia" pitchFamily="34" charset="0"/>
                <a:ea typeface="Georgia" pitchFamily="34" charset="-122"/>
                <a:cs typeface="Georgia" pitchFamily="34" charset="-120"/>
              </a:rPr>
              <a:t>02</a:t>
            </a:r>
            <a:endParaRPr lang="en-US" sz="6000" dirty="0"/>
          </a:p>
        </p:txBody>
      </p:sp>
      <p:sp>
        <p:nvSpPr>
          <p:cNvPr id="10" name="Text 8"/>
          <p:cNvSpPr/>
          <p:nvPr/>
        </p:nvSpPr>
        <p:spPr>
          <a:xfrm>
            <a:off x="3474720" y="1417320"/>
            <a:ext cx="2286000" cy="457200"/>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Dataset</a:t>
            </a:r>
            <a:endParaRPr lang="en-US" sz="1300" dirty="0"/>
          </a:p>
        </p:txBody>
      </p:sp>
      <p:sp>
        <p:nvSpPr>
          <p:cNvPr id="11" name="Text 9"/>
          <p:cNvSpPr/>
          <p:nvPr/>
        </p:nvSpPr>
        <p:spPr>
          <a:xfrm>
            <a:off x="3474720" y="1965960"/>
            <a:ext cx="2331720" cy="2286000"/>
          </a:xfrm>
          <a:prstGeom prst="rect">
            <a:avLst/>
          </a:prstGeom>
          <a:noFill/>
          <a:ln/>
        </p:spPr>
        <p:txBody>
          <a:bodyPr wrap="square" rtlCol="0" anchor="t"/>
          <a:lstStyle/>
          <a:p>
            <a:pPr marL="0" indent="0">
              <a:buNone/>
            </a:pPr>
            <a:r>
              <a:rPr lang="en-US" sz="1100" dirty="0">
                <a:solidFill>
                  <a:srgbClr val="2C1810"/>
                </a:solidFill>
                <a:latin typeface="Calibri" pitchFamily="34" charset="0"/>
                <a:ea typeface="Calibri" pitchFamily="34" charset="-122"/>
                <a:cs typeface="Calibri" pitchFamily="34" charset="-120"/>
              </a:rPr>
              <a:t>1,242 raw Amazon product records across laptops, monitors, keyboards, mice, accessories, and notebooks.</a:t>
            </a:r>
            <a:endParaRPr lang="en-US" sz="1100" dirty="0"/>
          </a:p>
        </p:txBody>
      </p:sp>
      <p:sp>
        <p:nvSpPr>
          <p:cNvPr id="12" name="Shape 10"/>
          <p:cNvSpPr/>
          <p:nvPr/>
        </p:nvSpPr>
        <p:spPr>
          <a:xfrm>
            <a:off x="6126480" y="1097280"/>
            <a:ext cx="2651760" cy="347472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13" name="Text 11"/>
          <p:cNvSpPr/>
          <p:nvPr/>
        </p:nvSpPr>
        <p:spPr>
          <a:xfrm>
            <a:off x="7498080" y="1005840"/>
            <a:ext cx="1325880" cy="1005840"/>
          </a:xfrm>
          <a:prstGeom prst="rect">
            <a:avLst/>
          </a:prstGeom>
          <a:noFill/>
          <a:ln/>
        </p:spPr>
        <p:txBody>
          <a:bodyPr wrap="square" rtlCol="0" anchor="ctr"/>
          <a:lstStyle/>
          <a:p>
            <a:pPr marL="0" indent="0" algn="r">
              <a:buNone/>
            </a:pPr>
            <a:r>
              <a:rPr lang="en-US" sz="6000" b="1" dirty="0">
                <a:solidFill>
                  <a:srgbClr val="F5EFEC"/>
                </a:solidFill>
                <a:latin typeface="Georgia" pitchFamily="34" charset="0"/>
                <a:ea typeface="Georgia" pitchFamily="34" charset="-122"/>
                <a:cs typeface="Georgia" pitchFamily="34" charset="-120"/>
              </a:rPr>
              <a:t>03</a:t>
            </a:r>
            <a:endParaRPr lang="en-US" sz="6000" dirty="0"/>
          </a:p>
        </p:txBody>
      </p:sp>
      <p:sp>
        <p:nvSpPr>
          <p:cNvPr id="14" name="Text 12"/>
          <p:cNvSpPr/>
          <p:nvPr/>
        </p:nvSpPr>
        <p:spPr>
          <a:xfrm>
            <a:off x="6309360" y="1417320"/>
            <a:ext cx="2286000" cy="457200"/>
          </a:xfrm>
          <a:prstGeom prst="rect">
            <a:avLst/>
          </a:prstGeom>
          <a:noFill/>
          <a:ln/>
        </p:spPr>
        <p:txBody>
          <a:bodyPr wrap="square"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Outcome</a:t>
            </a:r>
            <a:endParaRPr lang="en-US" sz="1300" dirty="0"/>
          </a:p>
        </p:txBody>
      </p:sp>
      <p:sp>
        <p:nvSpPr>
          <p:cNvPr id="15" name="Text 13"/>
          <p:cNvSpPr/>
          <p:nvPr/>
        </p:nvSpPr>
        <p:spPr>
          <a:xfrm>
            <a:off x="6309360" y="1965960"/>
            <a:ext cx="2331720" cy="2286000"/>
          </a:xfrm>
          <a:prstGeom prst="rect">
            <a:avLst/>
          </a:prstGeom>
          <a:noFill/>
          <a:ln/>
        </p:spPr>
        <p:txBody>
          <a:bodyPr wrap="square" rtlCol="0" anchor="t"/>
          <a:lstStyle/>
          <a:p>
            <a:pPr marL="0" indent="0">
              <a:buNone/>
            </a:pPr>
            <a:r>
              <a:rPr lang="en-US" sz="1100" dirty="0">
                <a:solidFill>
                  <a:srgbClr val="2C1810"/>
                </a:solidFill>
                <a:latin typeface="Calibri" pitchFamily="34" charset="0"/>
                <a:ea typeface="Calibri" pitchFamily="34" charset="-122"/>
                <a:cs typeface="Calibri" pitchFamily="34" charset="-120"/>
              </a:rPr>
              <a:t>Clean dataset of 971 products analyzed for 3 business problems, with SQL queries and Power BI dashboard.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rtlCol="0" anchor="ctr"/>
          <a:lstStyle/>
          <a:p>
            <a:pPr marL="0" indent="0">
              <a:buNone/>
            </a:pPr>
            <a:r>
              <a:rPr lang="en-US" sz="2800" b="1" dirty="0">
                <a:solidFill>
                  <a:srgbClr val="2C1810"/>
                </a:solidFill>
                <a:latin typeface="Georgia" pitchFamily="34" charset="0"/>
                <a:ea typeface="Georgia" pitchFamily="34" charset="-122"/>
                <a:cs typeface="Georgia" pitchFamily="34" charset="-120"/>
              </a:rPr>
              <a:t>Data Cleaning &amp; Preprocessing</a:t>
            </a:r>
            <a:endParaRPr lang="en-US" sz="2800" dirty="0"/>
          </a:p>
        </p:txBody>
      </p:sp>
      <p:sp>
        <p:nvSpPr>
          <p:cNvPr id="3" name="Shape 1"/>
          <p:cNvSpPr/>
          <p:nvPr/>
        </p:nvSpPr>
        <p:spPr>
          <a:xfrm>
            <a:off x="548640" y="914400"/>
            <a:ext cx="8046720" cy="0"/>
          </a:xfrm>
          <a:prstGeom prst="line">
            <a:avLst/>
          </a:prstGeom>
          <a:noFill/>
          <a:ln w="6350">
            <a:solidFill>
              <a:srgbClr val="E8DDD8"/>
            </a:solidFill>
            <a:prstDash val="solid"/>
          </a:ln>
        </p:spPr>
        <p:txBody>
          <a:bodyPr/>
          <a:lstStyle/>
          <a:p>
            <a:endParaRPr lang="en-US"/>
          </a:p>
        </p:txBody>
      </p:sp>
      <p:sp>
        <p:nvSpPr>
          <p:cNvPr id="4" name="Shape 2"/>
          <p:cNvSpPr/>
          <p:nvPr/>
        </p:nvSpPr>
        <p:spPr>
          <a:xfrm>
            <a:off x="457200" y="1051560"/>
            <a:ext cx="1920240" cy="100584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5" name="Text 3"/>
          <p:cNvSpPr/>
          <p:nvPr/>
        </p:nvSpPr>
        <p:spPr>
          <a:xfrm>
            <a:off x="457200" y="1097280"/>
            <a:ext cx="1920240" cy="502920"/>
          </a:xfrm>
          <a:prstGeom prst="rect">
            <a:avLst/>
          </a:prstGeom>
          <a:noFill/>
          <a:ln/>
        </p:spPr>
        <p:txBody>
          <a:bodyPr wrap="square" rtlCol="0" anchor="ctr"/>
          <a:lstStyle/>
          <a:p>
            <a:pPr marL="0" indent="0" algn="ctr">
              <a:buNone/>
            </a:pPr>
            <a:r>
              <a:rPr lang="en-US" sz="2400" b="1" dirty="0">
                <a:solidFill>
                  <a:srgbClr val="6D2E46"/>
                </a:solidFill>
                <a:latin typeface="Georgia" pitchFamily="34" charset="0"/>
                <a:ea typeface="Georgia" pitchFamily="34" charset="-122"/>
                <a:cs typeface="Georgia" pitchFamily="34" charset="-120"/>
              </a:rPr>
              <a:t>1,242</a:t>
            </a:r>
            <a:endParaRPr lang="en-US" sz="2400" dirty="0"/>
          </a:p>
        </p:txBody>
      </p:sp>
      <p:sp>
        <p:nvSpPr>
          <p:cNvPr id="6" name="Text 4"/>
          <p:cNvSpPr/>
          <p:nvPr/>
        </p:nvSpPr>
        <p:spPr>
          <a:xfrm>
            <a:off x="457200" y="1572768"/>
            <a:ext cx="1920240" cy="274320"/>
          </a:xfrm>
          <a:prstGeom prst="rect">
            <a:avLst/>
          </a:prstGeom>
          <a:noFill/>
          <a:ln/>
        </p:spPr>
        <p:txBody>
          <a:bodyPr wrap="square" rtlCol="0" anchor="ctr"/>
          <a:lstStyle/>
          <a:p>
            <a:pPr marL="0" indent="0" algn="ctr">
              <a:buNone/>
            </a:pPr>
            <a:r>
              <a:rPr lang="en-US" sz="900" dirty="0">
                <a:solidFill>
                  <a:srgbClr val="8B6B6B"/>
                </a:solidFill>
                <a:latin typeface="Calibri" pitchFamily="34" charset="0"/>
                <a:ea typeface="Calibri" pitchFamily="34" charset="-122"/>
                <a:cs typeface="Calibri" pitchFamily="34" charset="-120"/>
              </a:rPr>
              <a:t>Raw products</a:t>
            </a:r>
            <a:endParaRPr lang="en-US" sz="900" dirty="0"/>
          </a:p>
        </p:txBody>
      </p:sp>
      <p:sp>
        <p:nvSpPr>
          <p:cNvPr id="7" name="Shape 5"/>
          <p:cNvSpPr/>
          <p:nvPr/>
        </p:nvSpPr>
        <p:spPr>
          <a:xfrm>
            <a:off x="2560320" y="1051560"/>
            <a:ext cx="1920240" cy="100584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8" name="Text 6"/>
          <p:cNvSpPr/>
          <p:nvPr/>
        </p:nvSpPr>
        <p:spPr>
          <a:xfrm>
            <a:off x="2560320" y="1097280"/>
            <a:ext cx="1920240" cy="502920"/>
          </a:xfrm>
          <a:prstGeom prst="rect">
            <a:avLst/>
          </a:prstGeom>
          <a:noFill/>
          <a:ln/>
        </p:spPr>
        <p:txBody>
          <a:bodyPr wrap="square" rtlCol="0" anchor="ctr"/>
          <a:lstStyle/>
          <a:p>
            <a:pPr marL="0" indent="0" algn="ctr">
              <a:buNone/>
            </a:pPr>
            <a:r>
              <a:rPr lang="en-US" sz="2400" b="1" dirty="0">
                <a:solidFill>
                  <a:srgbClr val="6D2E46"/>
                </a:solidFill>
                <a:latin typeface="Georgia" pitchFamily="34" charset="0"/>
                <a:ea typeface="Georgia" pitchFamily="34" charset="-122"/>
                <a:cs typeface="Georgia" pitchFamily="34" charset="-120"/>
              </a:rPr>
              <a:t>903</a:t>
            </a:r>
            <a:endParaRPr lang="en-US" sz="2400" dirty="0"/>
          </a:p>
        </p:txBody>
      </p:sp>
      <p:sp>
        <p:nvSpPr>
          <p:cNvPr id="9" name="Text 7"/>
          <p:cNvSpPr/>
          <p:nvPr/>
        </p:nvSpPr>
        <p:spPr>
          <a:xfrm>
            <a:off x="2560320" y="1572768"/>
            <a:ext cx="1920240" cy="274320"/>
          </a:xfrm>
          <a:prstGeom prst="rect">
            <a:avLst/>
          </a:prstGeom>
          <a:noFill/>
          <a:ln/>
        </p:spPr>
        <p:txBody>
          <a:bodyPr wrap="square" rtlCol="0" anchor="ctr"/>
          <a:lstStyle/>
          <a:p>
            <a:pPr marL="0" indent="0" algn="ctr">
              <a:buNone/>
            </a:pPr>
            <a:r>
              <a:rPr lang="en-US" sz="900" dirty="0">
                <a:solidFill>
                  <a:srgbClr val="8B6B6B"/>
                </a:solidFill>
                <a:latin typeface="Calibri" pitchFamily="34" charset="0"/>
                <a:ea typeface="Calibri" pitchFamily="34" charset="-122"/>
                <a:cs typeface="Calibri" pitchFamily="34" charset="-120"/>
              </a:rPr>
              <a:t>Missing brands fixed</a:t>
            </a:r>
            <a:endParaRPr lang="en-US" sz="900" dirty="0"/>
          </a:p>
        </p:txBody>
      </p:sp>
      <p:sp>
        <p:nvSpPr>
          <p:cNvPr id="10" name="Shape 8"/>
          <p:cNvSpPr/>
          <p:nvPr/>
        </p:nvSpPr>
        <p:spPr>
          <a:xfrm>
            <a:off x="4663440" y="1051560"/>
            <a:ext cx="1920240" cy="100584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11" name="Text 9"/>
          <p:cNvSpPr/>
          <p:nvPr/>
        </p:nvSpPr>
        <p:spPr>
          <a:xfrm>
            <a:off x="4663440" y="1097280"/>
            <a:ext cx="1920240" cy="502920"/>
          </a:xfrm>
          <a:prstGeom prst="rect">
            <a:avLst/>
          </a:prstGeom>
          <a:noFill/>
          <a:ln/>
        </p:spPr>
        <p:txBody>
          <a:bodyPr wrap="square" rtlCol="0" anchor="ctr"/>
          <a:lstStyle/>
          <a:p>
            <a:pPr marL="0" indent="0" algn="ctr">
              <a:buNone/>
            </a:pPr>
            <a:r>
              <a:rPr lang="en-US" sz="2400" b="1" dirty="0">
                <a:solidFill>
                  <a:srgbClr val="6D2E46"/>
                </a:solidFill>
                <a:latin typeface="Georgia" pitchFamily="34" charset="0"/>
                <a:ea typeface="Georgia" pitchFamily="34" charset="-122"/>
                <a:cs typeface="Georgia" pitchFamily="34" charset="-120"/>
              </a:rPr>
              <a:t>271</a:t>
            </a:r>
            <a:endParaRPr lang="en-US" sz="2400" dirty="0"/>
          </a:p>
        </p:txBody>
      </p:sp>
      <p:sp>
        <p:nvSpPr>
          <p:cNvPr id="12" name="Text 10"/>
          <p:cNvSpPr/>
          <p:nvPr/>
        </p:nvSpPr>
        <p:spPr>
          <a:xfrm>
            <a:off x="4663440" y="1572768"/>
            <a:ext cx="1920240" cy="274320"/>
          </a:xfrm>
          <a:prstGeom prst="rect">
            <a:avLst/>
          </a:prstGeom>
          <a:noFill/>
          <a:ln/>
        </p:spPr>
        <p:txBody>
          <a:bodyPr wrap="square" rtlCol="0" anchor="ctr"/>
          <a:lstStyle/>
          <a:p>
            <a:pPr marL="0" indent="0" algn="ctr">
              <a:buNone/>
            </a:pPr>
            <a:r>
              <a:rPr lang="en-US" sz="900" dirty="0">
                <a:solidFill>
                  <a:srgbClr val="8B6B6B"/>
                </a:solidFill>
                <a:latin typeface="Calibri" pitchFamily="34" charset="0"/>
                <a:ea typeface="Calibri" pitchFamily="34" charset="-122"/>
                <a:cs typeface="Calibri" pitchFamily="34" charset="-120"/>
              </a:rPr>
              <a:t>Rows removed</a:t>
            </a:r>
            <a:endParaRPr lang="en-US" sz="900" dirty="0"/>
          </a:p>
        </p:txBody>
      </p:sp>
      <p:sp>
        <p:nvSpPr>
          <p:cNvPr id="13" name="Shape 11"/>
          <p:cNvSpPr/>
          <p:nvPr/>
        </p:nvSpPr>
        <p:spPr>
          <a:xfrm>
            <a:off x="6766560" y="1051560"/>
            <a:ext cx="1920240" cy="1005840"/>
          </a:xfrm>
          <a:prstGeom prst="rect">
            <a:avLst/>
          </a:prstGeom>
          <a:solidFill>
            <a:srgbClr val="6D2E46"/>
          </a:solidFill>
          <a:ln w="6350">
            <a:solidFill>
              <a:srgbClr val="6D2E46"/>
            </a:solidFill>
            <a:prstDash val="solid"/>
          </a:ln>
          <a:effectLst>
            <a:outerShdw blurRad="101600" dist="25400" dir="8100000" algn="bl" rotWithShape="0">
              <a:srgbClr val="000000">
                <a:alpha val="8000"/>
              </a:srgbClr>
            </a:outerShdw>
          </a:effectLst>
        </p:spPr>
        <p:txBody>
          <a:bodyPr/>
          <a:lstStyle/>
          <a:p>
            <a:endParaRPr lang="en-US"/>
          </a:p>
        </p:txBody>
      </p:sp>
      <p:sp>
        <p:nvSpPr>
          <p:cNvPr id="14" name="Text 12"/>
          <p:cNvSpPr/>
          <p:nvPr/>
        </p:nvSpPr>
        <p:spPr>
          <a:xfrm>
            <a:off x="6766560" y="1097280"/>
            <a:ext cx="1920240" cy="50292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971</a:t>
            </a:r>
            <a:endParaRPr lang="en-US" sz="2400" dirty="0"/>
          </a:p>
        </p:txBody>
      </p:sp>
      <p:sp>
        <p:nvSpPr>
          <p:cNvPr id="15" name="Text 13"/>
          <p:cNvSpPr/>
          <p:nvPr/>
        </p:nvSpPr>
        <p:spPr>
          <a:xfrm>
            <a:off x="6766560" y="1572768"/>
            <a:ext cx="1920240" cy="274320"/>
          </a:xfrm>
          <a:prstGeom prst="rect">
            <a:avLst/>
          </a:prstGeom>
          <a:noFill/>
          <a:ln/>
        </p:spPr>
        <p:txBody>
          <a:bodyPr wrap="square" rtlCol="0" anchor="ctr"/>
          <a:lstStyle/>
          <a:p>
            <a:pPr marL="0" indent="0" algn="ctr">
              <a:buNone/>
            </a:pPr>
            <a:r>
              <a:rPr lang="en-US" sz="900" dirty="0">
                <a:solidFill>
                  <a:srgbClr val="F5DFDF"/>
                </a:solidFill>
                <a:latin typeface="Calibri" pitchFamily="34" charset="0"/>
                <a:ea typeface="Calibri" pitchFamily="34" charset="-122"/>
                <a:cs typeface="Calibri" pitchFamily="34" charset="-120"/>
              </a:rPr>
              <a:t>Clean products</a:t>
            </a:r>
            <a:endParaRPr lang="en-US" sz="900" dirty="0"/>
          </a:p>
        </p:txBody>
      </p:sp>
      <p:sp>
        <p:nvSpPr>
          <p:cNvPr id="16" name="Shape 14"/>
          <p:cNvSpPr/>
          <p:nvPr/>
        </p:nvSpPr>
        <p:spPr>
          <a:xfrm>
            <a:off x="502920" y="2359152"/>
            <a:ext cx="347472" cy="347472"/>
          </a:xfrm>
          <a:prstGeom prst="ellipse">
            <a:avLst/>
          </a:prstGeom>
          <a:solidFill>
            <a:srgbClr val="6D2E46"/>
          </a:solidFill>
          <a:ln w="12700">
            <a:solidFill>
              <a:srgbClr val="6D2E46"/>
            </a:solidFill>
            <a:prstDash val="solid"/>
          </a:ln>
        </p:spPr>
        <p:txBody>
          <a:bodyPr/>
          <a:lstStyle/>
          <a:p>
            <a:endParaRPr lang="en-US"/>
          </a:p>
        </p:txBody>
      </p:sp>
      <p:sp>
        <p:nvSpPr>
          <p:cNvPr id="17" name="Text 15"/>
          <p:cNvSpPr/>
          <p:nvPr/>
        </p:nvSpPr>
        <p:spPr>
          <a:xfrm>
            <a:off x="502920" y="2359152"/>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6"/>
          <p:cNvSpPr/>
          <p:nvPr/>
        </p:nvSpPr>
        <p:spPr>
          <a:xfrm>
            <a:off x="1005840" y="2286000"/>
            <a:ext cx="2011680" cy="502920"/>
          </a:xfrm>
          <a:prstGeom prst="rect">
            <a:avLst/>
          </a:prstGeom>
          <a:noFill/>
          <a:ln/>
        </p:spPr>
        <p:txBody>
          <a:bodyPr wrap="square"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Brand Extraction</a:t>
            </a:r>
            <a:endParaRPr lang="en-US" sz="1200" dirty="0"/>
          </a:p>
        </p:txBody>
      </p:sp>
      <p:sp>
        <p:nvSpPr>
          <p:cNvPr id="19" name="Text 17"/>
          <p:cNvSpPr/>
          <p:nvPr/>
        </p:nvSpPr>
        <p:spPr>
          <a:xfrm>
            <a:off x="3017520" y="2286000"/>
            <a:ext cx="5577840" cy="777240"/>
          </a:xfrm>
          <a:prstGeom prst="rect">
            <a:avLst/>
          </a:prstGeom>
          <a:noFill/>
          <a:ln/>
        </p:spPr>
        <p:txBody>
          <a:bodyPr wrap="square" rtlCol="0" anchor="t"/>
          <a:lstStyle/>
          <a:p>
            <a:pPr marL="0" indent="0">
              <a:buNone/>
            </a:pPr>
            <a:r>
              <a:rPr lang="en-US" sz="1000" dirty="0">
                <a:solidFill>
                  <a:srgbClr val="8B6B6B"/>
                </a:solidFill>
                <a:latin typeface="Calibri" pitchFamily="34" charset="0"/>
                <a:ea typeface="Calibri" pitchFamily="34" charset="-122"/>
                <a:cs typeface="Calibri" pitchFamily="34" charset="-120"/>
              </a:rPr>
              <a:t>903 products had missing brand names. Manually identified 152 known brands and matched them against the first word of each product title. Filled 667 brands this way. The remaining 236 products with no identifiable brand were labeled as Generic.</a:t>
            </a:r>
            <a:endParaRPr lang="en-US" sz="1000" dirty="0"/>
          </a:p>
        </p:txBody>
      </p:sp>
      <p:sp>
        <p:nvSpPr>
          <p:cNvPr id="20" name="Shape 18"/>
          <p:cNvSpPr/>
          <p:nvPr/>
        </p:nvSpPr>
        <p:spPr>
          <a:xfrm>
            <a:off x="548640" y="3127248"/>
            <a:ext cx="8046720" cy="0"/>
          </a:xfrm>
          <a:prstGeom prst="line">
            <a:avLst/>
          </a:prstGeom>
          <a:noFill/>
          <a:ln w="3810">
            <a:solidFill>
              <a:srgbClr val="E8DDD8"/>
            </a:solidFill>
            <a:prstDash val="solid"/>
          </a:ln>
        </p:spPr>
        <p:txBody>
          <a:bodyPr/>
          <a:lstStyle/>
          <a:p>
            <a:endParaRPr lang="en-US"/>
          </a:p>
        </p:txBody>
      </p:sp>
      <p:sp>
        <p:nvSpPr>
          <p:cNvPr id="21" name="Shape 19"/>
          <p:cNvSpPr/>
          <p:nvPr/>
        </p:nvSpPr>
        <p:spPr>
          <a:xfrm>
            <a:off x="502920" y="3255264"/>
            <a:ext cx="347472" cy="347472"/>
          </a:xfrm>
          <a:prstGeom prst="ellipse">
            <a:avLst/>
          </a:prstGeom>
          <a:solidFill>
            <a:srgbClr val="6D2E46"/>
          </a:solidFill>
          <a:ln w="12700">
            <a:solidFill>
              <a:srgbClr val="6D2E46"/>
            </a:solidFill>
            <a:prstDash val="solid"/>
          </a:ln>
        </p:spPr>
        <p:txBody>
          <a:bodyPr/>
          <a:lstStyle/>
          <a:p>
            <a:endParaRPr lang="en-US"/>
          </a:p>
        </p:txBody>
      </p:sp>
      <p:sp>
        <p:nvSpPr>
          <p:cNvPr id="22" name="Text 20"/>
          <p:cNvSpPr/>
          <p:nvPr/>
        </p:nvSpPr>
        <p:spPr>
          <a:xfrm>
            <a:off x="502920" y="3255264"/>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Text 21"/>
          <p:cNvSpPr/>
          <p:nvPr/>
        </p:nvSpPr>
        <p:spPr>
          <a:xfrm>
            <a:off x="1005840" y="3182112"/>
            <a:ext cx="2011680" cy="502920"/>
          </a:xfrm>
          <a:prstGeom prst="rect">
            <a:avLst/>
          </a:prstGeom>
          <a:noFill/>
          <a:ln/>
        </p:spPr>
        <p:txBody>
          <a:bodyPr wrap="square"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Duplicate Handling</a:t>
            </a:r>
            <a:endParaRPr lang="en-US" sz="1200" dirty="0"/>
          </a:p>
        </p:txBody>
      </p:sp>
      <p:sp>
        <p:nvSpPr>
          <p:cNvPr id="24" name="Text 22"/>
          <p:cNvSpPr/>
          <p:nvPr/>
        </p:nvSpPr>
        <p:spPr>
          <a:xfrm>
            <a:off x="3017520" y="3182112"/>
            <a:ext cx="5577840" cy="777240"/>
          </a:xfrm>
          <a:prstGeom prst="rect">
            <a:avLst/>
          </a:prstGeom>
          <a:noFill/>
          <a:ln/>
        </p:spPr>
        <p:txBody>
          <a:bodyPr wrap="square" rtlCol="0" anchor="t"/>
          <a:lstStyle/>
          <a:p>
            <a:pPr marL="0" indent="0">
              <a:buNone/>
            </a:pPr>
            <a:r>
              <a:rPr lang="en-US" sz="1000" dirty="0">
                <a:solidFill>
                  <a:srgbClr val="8B6B6B"/>
                </a:solidFill>
                <a:latin typeface="Calibri" pitchFamily="34" charset="0"/>
                <a:ea typeface="Calibri" pitchFamily="34" charset="-122"/>
                <a:cs typeface="Calibri" pitchFamily="34" charset="-120"/>
              </a:rPr>
              <a:t>Identified 154 products with duplicates (up to 6 occurrences). Used duplicates to fill missing price, rating, review, and sales data before removing 215 duplicate rows.</a:t>
            </a:r>
            <a:endParaRPr lang="en-US" sz="1000" dirty="0"/>
          </a:p>
        </p:txBody>
      </p:sp>
      <p:sp>
        <p:nvSpPr>
          <p:cNvPr id="25" name="Shape 23"/>
          <p:cNvSpPr/>
          <p:nvPr/>
        </p:nvSpPr>
        <p:spPr>
          <a:xfrm>
            <a:off x="548640" y="4023360"/>
            <a:ext cx="8046720" cy="0"/>
          </a:xfrm>
          <a:prstGeom prst="line">
            <a:avLst/>
          </a:prstGeom>
          <a:noFill/>
          <a:ln w="3810">
            <a:solidFill>
              <a:srgbClr val="E8DDD8"/>
            </a:solidFill>
            <a:prstDash val="solid"/>
          </a:ln>
        </p:spPr>
        <p:txBody>
          <a:bodyPr/>
          <a:lstStyle/>
          <a:p>
            <a:endParaRPr lang="en-US"/>
          </a:p>
        </p:txBody>
      </p:sp>
      <p:sp>
        <p:nvSpPr>
          <p:cNvPr id="26" name="Shape 24"/>
          <p:cNvSpPr/>
          <p:nvPr/>
        </p:nvSpPr>
        <p:spPr>
          <a:xfrm>
            <a:off x="502920" y="4151376"/>
            <a:ext cx="347472" cy="347472"/>
          </a:xfrm>
          <a:prstGeom prst="ellipse">
            <a:avLst/>
          </a:prstGeom>
          <a:solidFill>
            <a:srgbClr val="6D2E46"/>
          </a:solidFill>
          <a:ln w="12700">
            <a:solidFill>
              <a:srgbClr val="6D2E46"/>
            </a:solidFill>
            <a:prstDash val="solid"/>
          </a:ln>
        </p:spPr>
        <p:txBody>
          <a:bodyPr/>
          <a:lstStyle/>
          <a:p>
            <a:endParaRPr lang="en-US"/>
          </a:p>
        </p:txBody>
      </p:sp>
      <p:sp>
        <p:nvSpPr>
          <p:cNvPr id="27" name="Text 25"/>
          <p:cNvSpPr/>
          <p:nvPr/>
        </p:nvSpPr>
        <p:spPr>
          <a:xfrm>
            <a:off x="502920" y="4151376"/>
            <a:ext cx="347472"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Text 26"/>
          <p:cNvSpPr/>
          <p:nvPr/>
        </p:nvSpPr>
        <p:spPr>
          <a:xfrm>
            <a:off x="1005840" y="4078224"/>
            <a:ext cx="2011680" cy="502920"/>
          </a:xfrm>
          <a:prstGeom prst="rect">
            <a:avLst/>
          </a:prstGeom>
          <a:noFill/>
          <a:ln/>
        </p:spPr>
        <p:txBody>
          <a:bodyPr wrap="square" rtlCol="0" anchor="ctr"/>
          <a:lstStyle/>
          <a:p>
            <a:pPr marL="0" indent="0">
              <a:buNone/>
            </a:pPr>
            <a:r>
              <a:rPr lang="en-US" sz="1200" b="1" dirty="0">
                <a:solidFill>
                  <a:srgbClr val="2C1810"/>
                </a:solidFill>
                <a:latin typeface="Calibri" pitchFamily="34" charset="0"/>
                <a:ea typeface="Calibri" pitchFamily="34" charset="-122"/>
                <a:cs typeface="Calibri" pitchFamily="34" charset="-120"/>
              </a:rPr>
              <a:t>Data Type Fixes</a:t>
            </a:r>
            <a:endParaRPr lang="en-US" sz="1200" dirty="0"/>
          </a:p>
        </p:txBody>
      </p:sp>
      <p:sp>
        <p:nvSpPr>
          <p:cNvPr id="29" name="Text 27"/>
          <p:cNvSpPr/>
          <p:nvPr/>
        </p:nvSpPr>
        <p:spPr>
          <a:xfrm>
            <a:off x="3017520" y="4078224"/>
            <a:ext cx="5577840" cy="777240"/>
          </a:xfrm>
          <a:prstGeom prst="rect">
            <a:avLst/>
          </a:prstGeom>
          <a:noFill/>
          <a:ln/>
        </p:spPr>
        <p:txBody>
          <a:bodyPr wrap="square" rtlCol="0" anchor="t"/>
          <a:lstStyle/>
          <a:p>
            <a:pPr marL="0" indent="0">
              <a:buNone/>
            </a:pPr>
            <a:r>
              <a:rPr lang="en-US" sz="1000" dirty="0">
                <a:solidFill>
                  <a:srgbClr val="8B6B6B"/>
                </a:solidFill>
                <a:latin typeface="Calibri" pitchFamily="34" charset="0"/>
                <a:ea typeface="Calibri" pitchFamily="34" charset="-122"/>
                <a:cs typeface="Calibri" pitchFamily="34" charset="-120"/>
              </a:rPr>
              <a:t>Converted price and reviews to float. Extracted numeric rating from '4.4 out of 5 stars' format. Converted sold_past_month from text (8K+) to numeric (8000). Dropped 65 rows with missing price.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rtlCol="0" anchor="ctr"/>
          <a:lstStyle/>
          <a:p>
            <a:pPr marL="0" indent="0">
              <a:buNone/>
            </a:pPr>
            <a:r>
              <a:rPr lang="en-US" sz="2800" b="1" dirty="0">
                <a:solidFill>
                  <a:srgbClr val="2C1810"/>
                </a:solidFill>
                <a:latin typeface="Georgia" pitchFamily="34" charset="0"/>
                <a:ea typeface="Georgia" pitchFamily="34" charset="-122"/>
                <a:cs typeface="Georgia" pitchFamily="34" charset="-120"/>
              </a:rPr>
              <a:t>Pricing Strategy</a:t>
            </a:r>
            <a:endParaRPr lang="en-US" sz="2800" dirty="0"/>
          </a:p>
        </p:txBody>
      </p:sp>
      <p:sp>
        <p:nvSpPr>
          <p:cNvPr id="3" name="Shape 1"/>
          <p:cNvSpPr/>
          <p:nvPr/>
        </p:nvSpPr>
        <p:spPr>
          <a:xfrm>
            <a:off x="548640" y="914400"/>
            <a:ext cx="8046720" cy="0"/>
          </a:xfrm>
          <a:prstGeom prst="line">
            <a:avLst/>
          </a:prstGeom>
          <a:noFill/>
          <a:ln w="6350">
            <a:solidFill>
              <a:srgbClr val="E8DDD8"/>
            </a:solidFill>
            <a:prstDash val="solid"/>
          </a:ln>
        </p:spPr>
        <p:txBody>
          <a:bodyPr/>
          <a:lstStyle/>
          <a:p>
            <a:endParaRPr lang="en-US"/>
          </a:p>
        </p:txBody>
      </p:sp>
      <p:sp>
        <p:nvSpPr>
          <p:cNvPr id="4" name="Shape 2"/>
          <p:cNvSpPr/>
          <p:nvPr/>
        </p:nvSpPr>
        <p:spPr>
          <a:xfrm>
            <a:off x="457200" y="1051560"/>
            <a:ext cx="2651760" cy="86868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5" name="Text 3"/>
          <p:cNvSpPr/>
          <p:nvPr/>
        </p:nvSpPr>
        <p:spPr>
          <a:xfrm>
            <a:off x="457200" y="1097280"/>
            <a:ext cx="2651760" cy="457200"/>
          </a:xfrm>
          <a:prstGeom prst="rect">
            <a:avLst/>
          </a:prstGeom>
          <a:noFill/>
          <a:ln/>
        </p:spPr>
        <p:txBody>
          <a:bodyPr wrap="square" rtlCol="0" anchor="ctr"/>
          <a:lstStyle/>
          <a:p>
            <a:pPr marL="0" indent="0" algn="ctr">
              <a:buNone/>
            </a:pPr>
            <a:r>
              <a:rPr lang="en-US" sz="2600" b="1" dirty="0">
                <a:solidFill>
                  <a:srgbClr val="6D2E46"/>
                </a:solidFill>
                <a:latin typeface="Georgia" pitchFamily="34" charset="0"/>
                <a:ea typeface="Georgia" pitchFamily="34" charset="-122"/>
                <a:cs typeface="Georgia" pitchFamily="34" charset="-120"/>
              </a:rPr>
              <a:t>$139</a:t>
            </a:r>
            <a:endParaRPr lang="en-US" sz="2600" dirty="0"/>
          </a:p>
        </p:txBody>
      </p:sp>
      <p:sp>
        <p:nvSpPr>
          <p:cNvPr id="6" name="Text 4"/>
          <p:cNvSpPr/>
          <p:nvPr/>
        </p:nvSpPr>
        <p:spPr>
          <a:xfrm>
            <a:off x="457200" y="1536192"/>
            <a:ext cx="2651760" cy="256032"/>
          </a:xfrm>
          <a:prstGeom prst="rect">
            <a:avLst/>
          </a:prstGeom>
          <a:noFill/>
          <a:ln/>
        </p:spPr>
        <p:txBody>
          <a:bodyPr wrap="square" rtlCol="0" anchor="ctr"/>
          <a:lstStyle/>
          <a:p>
            <a:pPr marL="0" indent="0" algn="ctr">
              <a:buNone/>
            </a:pPr>
            <a:r>
              <a:rPr lang="en-US" sz="900" dirty="0">
                <a:solidFill>
                  <a:srgbClr val="8B6B6B"/>
                </a:solidFill>
                <a:latin typeface="Calibri" pitchFamily="34" charset="0"/>
                <a:ea typeface="Calibri" pitchFamily="34" charset="-122"/>
                <a:cs typeface="Calibri" pitchFamily="34" charset="-120"/>
              </a:rPr>
              <a:t>Average Price</a:t>
            </a:r>
            <a:endParaRPr lang="en-US" sz="900" dirty="0"/>
          </a:p>
        </p:txBody>
      </p:sp>
      <p:sp>
        <p:nvSpPr>
          <p:cNvPr id="7" name="Shape 5"/>
          <p:cNvSpPr/>
          <p:nvPr/>
        </p:nvSpPr>
        <p:spPr>
          <a:xfrm>
            <a:off x="3291840" y="1051560"/>
            <a:ext cx="2651760" cy="86868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8" name="Text 6"/>
          <p:cNvSpPr/>
          <p:nvPr/>
        </p:nvSpPr>
        <p:spPr>
          <a:xfrm>
            <a:off x="3291840" y="1097280"/>
            <a:ext cx="2651760" cy="457200"/>
          </a:xfrm>
          <a:prstGeom prst="rect">
            <a:avLst/>
          </a:prstGeom>
          <a:noFill/>
          <a:ln/>
        </p:spPr>
        <p:txBody>
          <a:bodyPr wrap="square" rtlCol="0" anchor="ctr"/>
          <a:lstStyle/>
          <a:p>
            <a:pPr marL="0" indent="0" algn="ctr">
              <a:buNone/>
            </a:pPr>
            <a:r>
              <a:rPr lang="en-US" sz="2600" b="1" dirty="0">
                <a:solidFill>
                  <a:srgbClr val="6D2E46"/>
                </a:solidFill>
                <a:latin typeface="Georgia" pitchFamily="34" charset="0"/>
                <a:ea typeface="Georgia" pitchFamily="34" charset="-122"/>
                <a:cs typeface="Georgia" pitchFamily="34" charset="-120"/>
              </a:rPr>
              <a:t>$2.49</a:t>
            </a:r>
            <a:endParaRPr lang="en-US" sz="2600" dirty="0"/>
          </a:p>
        </p:txBody>
      </p:sp>
      <p:sp>
        <p:nvSpPr>
          <p:cNvPr id="9" name="Text 7"/>
          <p:cNvSpPr/>
          <p:nvPr/>
        </p:nvSpPr>
        <p:spPr>
          <a:xfrm>
            <a:off x="3291840" y="1536192"/>
            <a:ext cx="2651760" cy="256032"/>
          </a:xfrm>
          <a:prstGeom prst="rect">
            <a:avLst/>
          </a:prstGeom>
          <a:noFill/>
          <a:ln/>
        </p:spPr>
        <p:txBody>
          <a:bodyPr wrap="square" rtlCol="0" anchor="ctr"/>
          <a:lstStyle/>
          <a:p>
            <a:pPr marL="0" indent="0" algn="ctr">
              <a:buNone/>
            </a:pPr>
            <a:r>
              <a:rPr lang="en-US" sz="900" dirty="0">
                <a:solidFill>
                  <a:srgbClr val="8B6B6B"/>
                </a:solidFill>
                <a:latin typeface="Calibri" pitchFamily="34" charset="0"/>
                <a:ea typeface="Calibri" pitchFamily="34" charset="-122"/>
                <a:cs typeface="Calibri" pitchFamily="34" charset="-120"/>
              </a:rPr>
              <a:t>Minimum Price</a:t>
            </a:r>
            <a:endParaRPr lang="en-US" sz="900" dirty="0"/>
          </a:p>
        </p:txBody>
      </p:sp>
      <p:sp>
        <p:nvSpPr>
          <p:cNvPr id="10" name="Shape 8"/>
          <p:cNvSpPr/>
          <p:nvPr/>
        </p:nvSpPr>
        <p:spPr>
          <a:xfrm>
            <a:off x="6126480" y="1051560"/>
            <a:ext cx="2651760" cy="86868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11" name="Text 9"/>
          <p:cNvSpPr/>
          <p:nvPr/>
        </p:nvSpPr>
        <p:spPr>
          <a:xfrm>
            <a:off x="6126480" y="1097280"/>
            <a:ext cx="2651760" cy="457200"/>
          </a:xfrm>
          <a:prstGeom prst="rect">
            <a:avLst/>
          </a:prstGeom>
          <a:noFill/>
          <a:ln/>
        </p:spPr>
        <p:txBody>
          <a:bodyPr wrap="square" rtlCol="0" anchor="ctr"/>
          <a:lstStyle/>
          <a:p>
            <a:pPr marL="0" indent="0" algn="ctr">
              <a:buNone/>
            </a:pPr>
            <a:r>
              <a:rPr lang="en-US" sz="2600" b="1" dirty="0">
                <a:solidFill>
                  <a:srgbClr val="6D2E46"/>
                </a:solidFill>
                <a:latin typeface="Georgia" pitchFamily="34" charset="0"/>
                <a:ea typeface="Georgia" pitchFamily="34" charset="-122"/>
                <a:cs typeface="Georgia" pitchFamily="34" charset="-120"/>
              </a:rPr>
              <a:t>$999</a:t>
            </a:r>
            <a:endParaRPr lang="en-US" sz="2600" dirty="0"/>
          </a:p>
        </p:txBody>
      </p:sp>
      <p:sp>
        <p:nvSpPr>
          <p:cNvPr id="12" name="Text 10"/>
          <p:cNvSpPr/>
          <p:nvPr/>
        </p:nvSpPr>
        <p:spPr>
          <a:xfrm>
            <a:off x="6126480" y="1536192"/>
            <a:ext cx="2651760" cy="256032"/>
          </a:xfrm>
          <a:prstGeom prst="rect">
            <a:avLst/>
          </a:prstGeom>
          <a:noFill/>
          <a:ln/>
        </p:spPr>
        <p:txBody>
          <a:bodyPr wrap="square" rtlCol="0" anchor="ctr"/>
          <a:lstStyle/>
          <a:p>
            <a:pPr marL="0" indent="0" algn="ctr">
              <a:buNone/>
            </a:pPr>
            <a:r>
              <a:rPr lang="en-US" sz="900" dirty="0">
                <a:solidFill>
                  <a:srgbClr val="8B6B6B"/>
                </a:solidFill>
                <a:latin typeface="Calibri" pitchFamily="34" charset="0"/>
                <a:ea typeface="Calibri" pitchFamily="34" charset="-122"/>
                <a:cs typeface="Calibri" pitchFamily="34" charset="-120"/>
              </a:rPr>
              <a:t>Maximum Price</a:t>
            </a:r>
            <a:endParaRPr lang="en-US" sz="900" dirty="0"/>
          </a:p>
        </p:txBody>
      </p:sp>
      <p:graphicFrame>
        <p:nvGraphicFramePr>
          <p:cNvPr id="13" name="Chart 0"/>
          <p:cNvGraphicFramePr/>
          <p:nvPr/>
        </p:nvGraphicFramePr>
        <p:xfrm>
          <a:off x="457200" y="2103120"/>
          <a:ext cx="530352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1"/>
          <p:cNvSpPr/>
          <p:nvPr/>
        </p:nvSpPr>
        <p:spPr>
          <a:xfrm>
            <a:off x="5943600" y="2103120"/>
            <a:ext cx="2834640" cy="274320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15" name="Text 12"/>
          <p:cNvSpPr/>
          <p:nvPr/>
        </p:nvSpPr>
        <p:spPr>
          <a:xfrm>
            <a:off x="6035040" y="2240280"/>
            <a:ext cx="2651760" cy="320040"/>
          </a:xfrm>
          <a:prstGeom prst="rect">
            <a:avLst/>
          </a:prstGeom>
          <a:noFill/>
          <a:ln/>
        </p:spPr>
        <p:txBody>
          <a:bodyPr wrap="square" rtlCol="0" anchor="ctr"/>
          <a:lstStyle/>
          <a:p>
            <a:pPr marL="0" indent="0">
              <a:buNone/>
            </a:pPr>
            <a:r>
              <a:rPr lang="en-US" sz="1200" b="1" dirty="0">
                <a:solidFill>
                  <a:srgbClr val="6D2E46"/>
                </a:solidFill>
                <a:latin typeface="Calibri" pitchFamily="34" charset="0"/>
                <a:ea typeface="Calibri" pitchFamily="34" charset="-122"/>
                <a:cs typeface="Calibri" pitchFamily="34" charset="-120"/>
              </a:rPr>
              <a:t>Key Insights</a:t>
            </a:r>
            <a:endParaRPr lang="en-US" sz="1200" dirty="0"/>
          </a:p>
        </p:txBody>
      </p:sp>
      <p:sp>
        <p:nvSpPr>
          <p:cNvPr id="16" name="Shape 13"/>
          <p:cNvSpPr/>
          <p:nvPr/>
        </p:nvSpPr>
        <p:spPr>
          <a:xfrm>
            <a:off x="6080760" y="2697480"/>
            <a:ext cx="164592" cy="164592"/>
          </a:xfrm>
          <a:prstGeom prst="ellipse">
            <a:avLst/>
          </a:prstGeom>
          <a:solidFill>
            <a:srgbClr val="6D2E46"/>
          </a:solidFill>
          <a:ln w="12700">
            <a:solidFill>
              <a:srgbClr val="6D2E46"/>
            </a:solidFill>
            <a:prstDash val="solid"/>
          </a:ln>
        </p:spPr>
        <p:txBody>
          <a:bodyPr/>
          <a:lstStyle/>
          <a:p>
            <a:endParaRPr lang="en-US"/>
          </a:p>
        </p:txBody>
      </p:sp>
      <p:sp>
        <p:nvSpPr>
          <p:cNvPr id="17" name="Text 14"/>
          <p:cNvSpPr/>
          <p:nvPr/>
        </p:nvSpPr>
        <p:spPr>
          <a:xfrm>
            <a:off x="6309360" y="2633472"/>
            <a:ext cx="2377440" cy="411480"/>
          </a:xfrm>
          <a:prstGeom prst="rect">
            <a:avLst/>
          </a:prstGeom>
          <a:noFill/>
          <a:ln/>
        </p:spPr>
        <p:txBody>
          <a:bodyPr wrap="square" rtlCol="0" anchor="t"/>
          <a:lstStyle/>
          <a:p>
            <a:pPr marL="0" indent="0">
              <a:buNone/>
            </a:pPr>
            <a:r>
              <a:rPr lang="en-US" sz="1000" dirty="0">
                <a:solidFill>
                  <a:srgbClr val="2C1810"/>
                </a:solidFill>
                <a:latin typeface="Calibri" pitchFamily="34" charset="0"/>
                <a:ea typeface="Calibri" pitchFamily="34" charset="-122"/>
                <a:cs typeface="Calibri" pitchFamily="34" charset="-120"/>
              </a:rPr>
              <a:t>Most products (294) are priced under $25</a:t>
            </a:r>
            <a:endParaRPr lang="en-US" sz="1000" dirty="0"/>
          </a:p>
        </p:txBody>
      </p:sp>
      <p:sp>
        <p:nvSpPr>
          <p:cNvPr id="18" name="Shape 15"/>
          <p:cNvSpPr/>
          <p:nvPr/>
        </p:nvSpPr>
        <p:spPr>
          <a:xfrm>
            <a:off x="6080760" y="3227832"/>
            <a:ext cx="164592" cy="164592"/>
          </a:xfrm>
          <a:prstGeom prst="ellipse">
            <a:avLst/>
          </a:prstGeom>
          <a:solidFill>
            <a:srgbClr val="6D2E46"/>
          </a:solidFill>
          <a:ln w="12700">
            <a:solidFill>
              <a:srgbClr val="6D2E46"/>
            </a:solidFill>
            <a:prstDash val="solid"/>
          </a:ln>
        </p:spPr>
        <p:txBody>
          <a:bodyPr/>
          <a:lstStyle/>
          <a:p>
            <a:endParaRPr lang="en-US"/>
          </a:p>
        </p:txBody>
      </p:sp>
      <p:sp>
        <p:nvSpPr>
          <p:cNvPr id="19" name="Text 16"/>
          <p:cNvSpPr/>
          <p:nvPr/>
        </p:nvSpPr>
        <p:spPr>
          <a:xfrm>
            <a:off x="6309360" y="3163824"/>
            <a:ext cx="2377440" cy="411480"/>
          </a:xfrm>
          <a:prstGeom prst="rect">
            <a:avLst/>
          </a:prstGeom>
          <a:noFill/>
          <a:ln/>
        </p:spPr>
        <p:txBody>
          <a:bodyPr wrap="square" rtlCol="0" anchor="t"/>
          <a:lstStyle/>
          <a:p>
            <a:pPr marL="0" indent="0">
              <a:buNone/>
            </a:pPr>
            <a:r>
              <a:rPr lang="en-US" sz="1000" dirty="0">
                <a:solidFill>
                  <a:srgbClr val="2C1810"/>
                </a:solidFill>
                <a:latin typeface="Calibri" pitchFamily="34" charset="0"/>
                <a:ea typeface="Calibri" pitchFamily="34" charset="-122"/>
                <a:cs typeface="Calibri" pitchFamily="34" charset="-120"/>
              </a:rPr>
              <a:t>Mid-range $100–$250 is the 2nd largest segment</a:t>
            </a:r>
            <a:endParaRPr lang="en-US" sz="1000" dirty="0"/>
          </a:p>
        </p:txBody>
      </p:sp>
      <p:sp>
        <p:nvSpPr>
          <p:cNvPr id="20" name="Shape 17"/>
          <p:cNvSpPr/>
          <p:nvPr/>
        </p:nvSpPr>
        <p:spPr>
          <a:xfrm>
            <a:off x="6080760" y="3758184"/>
            <a:ext cx="164592" cy="164592"/>
          </a:xfrm>
          <a:prstGeom prst="ellipse">
            <a:avLst/>
          </a:prstGeom>
          <a:solidFill>
            <a:srgbClr val="6D2E46"/>
          </a:solidFill>
          <a:ln w="12700">
            <a:solidFill>
              <a:srgbClr val="6D2E46"/>
            </a:solidFill>
            <a:prstDash val="solid"/>
          </a:ln>
        </p:spPr>
        <p:txBody>
          <a:bodyPr/>
          <a:lstStyle/>
          <a:p>
            <a:endParaRPr lang="en-US"/>
          </a:p>
        </p:txBody>
      </p:sp>
      <p:sp>
        <p:nvSpPr>
          <p:cNvPr id="21" name="Text 18"/>
          <p:cNvSpPr/>
          <p:nvPr/>
        </p:nvSpPr>
        <p:spPr>
          <a:xfrm>
            <a:off x="6309360" y="3694176"/>
            <a:ext cx="2377440" cy="411480"/>
          </a:xfrm>
          <a:prstGeom prst="rect">
            <a:avLst/>
          </a:prstGeom>
          <a:noFill/>
          <a:ln/>
        </p:spPr>
        <p:txBody>
          <a:bodyPr wrap="square" rtlCol="0" anchor="t"/>
          <a:lstStyle/>
          <a:p>
            <a:pPr marL="0" indent="0">
              <a:buNone/>
            </a:pPr>
            <a:r>
              <a:rPr lang="en-US" sz="1000" dirty="0">
                <a:solidFill>
                  <a:srgbClr val="2C1810"/>
                </a:solidFill>
                <a:latin typeface="Calibri" pitchFamily="34" charset="0"/>
                <a:ea typeface="Calibri" pitchFamily="34" charset="-122"/>
                <a:cs typeface="Calibri" pitchFamily="34" charset="-120"/>
              </a:rPr>
              <a:t>Higher priced products have slightly lower avg ratings (4.3 vs 4.5)</a:t>
            </a:r>
            <a:endParaRPr lang="en-US" sz="1000" dirty="0"/>
          </a:p>
        </p:txBody>
      </p:sp>
      <p:sp>
        <p:nvSpPr>
          <p:cNvPr id="22" name="Shape 19"/>
          <p:cNvSpPr/>
          <p:nvPr/>
        </p:nvSpPr>
        <p:spPr>
          <a:xfrm>
            <a:off x="6080760" y="4288536"/>
            <a:ext cx="164592" cy="164592"/>
          </a:xfrm>
          <a:prstGeom prst="ellipse">
            <a:avLst/>
          </a:prstGeom>
          <a:solidFill>
            <a:srgbClr val="6D2E46"/>
          </a:solidFill>
          <a:ln w="12700">
            <a:solidFill>
              <a:srgbClr val="6D2E46"/>
            </a:solidFill>
            <a:prstDash val="solid"/>
          </a:ln>
        </p:spPr>
        <p:txBody>
          <a:bodyPr/>
          <a:lstStyle/>
          <a:p>
            <a:endParaRPr lang="en-US"/>
          </a:p>
        </p:txBody>
      </p:sp>
      <p:sp>
        <p:nvSpPr>
          <p:cNvPr id="23" name="Text 20"/>
          <p:cNvSpPr/>
          <p:nvPr/>
        </p:nvSpPr>
        <p:spPr>
          <a:xfrm>
            <a:off x="6309360" y="4224528"/>
            <a:ext cx="2377440" cy="411480"/>
          </a:xfrm>
          <a:prstGeom prst="rect">
            <a:avLst/>
          </a:prstGeom>
          <a:noFill/>
          <a:ln/>
        </p:spPr>
        <p:txBody>
          <a:bodyPr wrap="square" rtlCol="0" anchor="t"/>
          <a:lstStyle/>
          <a:p>
            <a:pPr marL="0" indent="0">
              <a:buNone/>
            </a:pPr>
            <a:r>
              <a:rPr lang="en-US" sz="1000" dirty="0">
                <a:solidFill>
                  <a:srgbClr val="2C1810"/>
                </a:solidFill>
                <a:latin typeface="Calibri" pitchFamily="34" charset="0"/>
                <a:ea typeface="Calibri" pitchFamily="34" charset="-122"/>
                <a:cs typeface="Calibri" pitchFamily="34" charset="-120"/>
              </a:rPr>
              <a:t>Cheaper products attract significantly more reviews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rtlCol="0" anchor="ctr"/>
          <a:lstStyle/>
          <a:p>
            <a:pPr marL="0" indent="0">
              <a:buNone/>
            </a:pPr>
            <a:r>
              <a:rPr lang="en-US" sz="2800" b="1" dirty="0">
                <a:solidFill>
                  <a:srgbClr val="2C1810"/>
                </a:solidFill>
                <a:latin typeface="Georgia" pitchFamily="34" charset="0"/>
                <a:ea typeface="Georgia" pitchFamily="34" charset="-122"/>
                <a:cs typeface="Georgia" pitchFamily="34" charset="-120"/>
              </a:rPr>
              <a:t>Best Selling Products</a:t>
            </a:r>
            <a:endParaRPr lang="en-US" sz="2800" dirty="0"/>
          </a:p>
        </p:txBody>
      </p:sp>
      <p:sp>
        <p:nvSpPr>
          <p:cNvPr id="3" name="Shape 1"/>
          <p:cNvSpPr/>
          <p:nvPr/>
        </p:nvSpPr>
        <p:spPr>
          <a:xfrm>
            <a:off x="548640" y="914400"/>
            <a:ext cx="8046720" cy="0"/>
          </a:xfrm>
          <a:prstGeom prst="line">
            <a:avLst/>
          </a:prstGeom>
          <a:noFill/>
          <a:ln w="6350">
            <a:solidFill>
              <a:srgbClr val="E8DDD8"/>
            </a:solidFill>
            <a:prstDash val="solid"/>
          </a:ln>
        </p:spPr>
        <p:txBody>
          <a:bodyPr/>
          <a:lstStyle/>
          <a:p>
            <a:endParaRPr lang="en-US"/>
          </a:p>
        </p:txBody>
      </p:sp>
      <p:graphicFrame>
        <p:nvGraphicFramePr>
          <p:cNvPr id="4" name="Chart 0"/>
          <p:cNvGraphicFramePr/>
          <p:nvPr/>
        </p:nvGraphicFramePr>
        <p:xfrm>
          <a:off x="457200" y="1051560"/>
          <a:ext cx="54864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217920" y="1143000"/>
            <a:ext cx="2606040" cy="914400"/>
          </a:xfrm>
          <a:prstGeom prst="rect">
            <a:avLst/>
          </a:prstGeom>
          <a:solidFill>
            <a:srgbClr val="6D2E46"/>
          </a:solidFill>
          <a:ln w="6350">
            <a:solidFill>
              <a:srgbClr val="6D2E46"/>
            </a:solidFill>
            <a:prstDash val="solid"/>
          </a:ln>
          <a:effectLst>
            <a:outerShdw blurRad="101600" dist="25400" dir="8100000" algn="bl" rotWithShape="0">
              <a:srgbClr val="000000">
                <a:alpha val="8000"/>
              </a:srgbClr>
            </a:outerShdw>
          </a:effectLst>
        </p:spPr>
        <p:txBody>
          <a:bodyPr/>
          <a:lstStyle/>
          <a:p>
            <a:endParaRPr lang="en-US"/>
          </a:p>
        </p:txBody>
      </p:sp>
      <p:sp>
        <p:nvSpPr>
          <p:cNvPr id="6" name="Text 3"/>
          <p:cNvSpPr/>
          <p:nvPr/>
        </p:nvSpPr>
        <p:spPr>
          <a:xfrm>
            <a:off x="6309360" y="1216152"/>
            <a:ext cx="24231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Logitech</a:t>
            </a:r>
            <a:endParaRPr lang="en-US" sz="1100" dirty="0"/>
          </a:p>
        </p:txBody>
      </p:sp>
      <p:sp>
        <p:nvSpPr>
          <p:cNvPr id="7" name="Text 4"/>
          <p:cNvSpPr/>
          <p:nvPr/>
        </p:nvSpPr>
        <p:spPr>
          <a:xfrm>
            <a:off x="6309360" y="1490472"/>
            <a:ext cx="1097280" cy="32004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339K</a:t>
            </a:r>
            <a:endParaRPr lang="en-US" sz="2000" dirty="0"/>
          </a:p>
        </p:txBody>
      </p:sp>
      <p:sp>
        <p:nvSpPr>
          <p:cNvPr id="8" name="Text 5"/>
          <p:cNvSpPr/>
          <p:nvPr/>
        </p:nvSpPr>
        <p:spPr>
          <a:xfrm>
            <a:off x="7315200" y="1581912"/>
            <a:ext cx="1371600" cy="228600"/>
          </a:xfrm>
          <a:prstGeom prst="rect">
            <a:avLst/>
          </a:prstGeom>
          <a:noFill/>
          <a:ln/>
        </p:spPr>
        <p:txBody>
          <a:bodyPr wrap="square" rtlCol="0" anchor="ctr"/>
          <a:lstStyle/>
          <a:p>
            <a:pPr marL="0" indent="0">
              <a:buNone/>
            </a:pPr>
            <a:r>
              <a:rPr lang="en-US" sz="900" dirty="0">
                <a:solidFill>
                  <a:srgbClr val="F5DFDF"/>
                </a:solidFill>
                <a:latin typeface="Calibri" pitchFamily="34" charset="0"/>
                <a:ea typeface="Calibri" pitchFamily="34" charset="-122"/>
                <a:cs typeface="Calibri" pitchFamily="34" charset="-120"/>
              </a:rPr>
              <a:t>units sold</a:t>
            </a:r>
            <a:endParaRPr lang="en-US" sz="900" dirty="0"/>
          </a:p>
        </p:txBody>
      </p:sp>
      <p:sp>
        <p:nvSpPr>
          <p:cNvPr id="9" name="Shape 6"/>
          <p:cNvSpPr/>
          <p:nvPr/>
        </p:nvSpPr>
        <p:spPr>
          <a:xfrm>
            <a:off x="6217920" y="2240280"/>
            <a:ext cx="2606040" cy="91440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10" name="Text 7"/>
          <p:cNvSpPr/>
          <p:nvPr/>
        </p:nvSpPr>
        <p:spPr>
          <a:xfrm>
            <a:off x="6309360" y="2313432"/>
            <a:ext cx="2423160" cy="274320"/>
          </a:xfrm>
          <a:prstGeom prst="rect">
            <a:avLst/>
          </a:prstGeom>
          <a:noFill/>
          <a:ln/>
        </p:spPr>
        <p:txBody>
          <a:bodyPr wrap="square" rtlCol="0" anchor="ctr"/>
          <a:lstStyle/>
          <a:p>
            <a:pPr marL="0" indent="0">
              <a:buNone/>
            </a:pPr>
            <a:r>
              <a:rPr lang="en-US" sz="1100" b="1" dirty="0">
                <a:solidFill>
                  <a:srgbClr val="2C1810"/>
                </a:solidFill>
                <a:latin typeface="Calibri" pitchFamily="34" charset="0"/>
                <a:ea typeface="Calibri" pitchFamily="34" charset="-122"/>
                <a:cs typeface="Calibri" pitchFamily="34" charset="-120"/>
              </a:rPr>
              <a:t>Acer</a:t>
            </a:r>
            <a:endParaRPr lang="en-US" sz="1100" dirty="0"/>
          </a:p>
        </p:txBody>
      </p:sp>
      <p:sp>
        <p:nvSpPr>
          <p:cNvPr id="11" name="Text 8"/>
          <p:cNvSpPr/>
          <p:nvPr/>
        </p:nvSpPr>
        <p:spPr>
          <a:xfrm>
            <a:off x="6309360" y="2587752"/>
            <a:ext cx="1097280" cy="320040"/>
          </a:xfrm>
          <a:prstGeom prst="rect">
            <a:avLst/>
          </a:prstGeom>
          <a:noFill/>
          <a:ln/>
        </p:spPr>
        <p:txBody>
          <a:bodyPr wrap="square" rtlCol="0" anchor="ctr"/>
          <a:lstStyle/>
          <a:p>
            <a:pPr marL="0" indent="0">
              <a:buNone/>
            </a:pPr>
            <a:r>
              <a:rPr lang="en-US" sz="2000" b="1" dirty="0">
                <a:solidFill>
                  <a:srgbClr val="6D2E46"/>
                </a:solidFill>
                <a:latin typeface="Georgia" pitchFamily="34" charset="0"/>
                <a:ea typeface="Georgia" pitchFamily="34" charset="-122"/>
                <a:cs typeface="Georgia" pitchFamily="34" charset="-120"/>
              </a:rPr>
              <a:t>62.6K</a:t>
            </a:r>
            <a:endParaRPr lang="en-US" sz="2000" dirty="0"/>
          </a:p>
        </p:txBody>
      </p:sp>
      <p:sp>
        <p:nvSpPr>
          <p:cNvPr id="12" name="Text 9"/>
          <p:cNvSpPr/>
          <p:nvPr/>
        </p:nvSpPr>
        <p:spPr>
          <a:xfrm>
            <a:off x="7315200" y="2679192"/>
            <a:ext cx="1371600" cy="228600"/>
          </a:xfrm>
          <a:prstGeom prst="rect">
            <a:avLst/>
          </a:prstGeom>
          <a:noFill/>
          <a:ln/>
        </p:spPr>
        <p:txBody>
          <a:bodyPr wrap="square" rtlCol="0" anchor="ctr"/>
          <a:lstStyle/>
          <a:p>
            <a:pPr marL="0" indent="0">
              <a:buNone/>
            </a:pPr>
            <a:r>
              <a:rPr lang="en-US" sz="900" dirty="0">
                <a:solidFill>
                  <a:srgbClr val="8B6B6B"/>
                </a:solidFill>
                <a:latin typeface="Calibri" pitchFamily="34" charset="0"/>
                <a:ea typeface="Calibri" pitchFamily="34" charset="-122"/>
                <a:cs typeface="Calibri" pitchFamily="34" charset="-120"/>
              </a:rPr>
              <a:t>units sold</a:t>
            </a:r>
            <a:endParaRPr lang="en-US" sz="900" dirty="0"/>
          </a:p>
        </p:txBody>
      </p:sp>
      <p:sp>
        <p:nvSpPr>
          <p:cNvPr id="13" name="Shape 10"/>
          <p:cNvSpPr/>
          <p:nvPr/>
        </p:nvSpPr>
        <p:spPr>
          <a:xfrm>
            <a:off x="6217920" y="3337560"/>
            <a:ext cx="2606040" cy="91440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14" name="Text 11"/>
          <p:cNvSpPr/>
          <p:nvPr/>
        </p:nvSpPr>
        <p:spPr>
          <a:xfrm>
            <a:off x="6309360" y="3410712"/>
            <a:ext cx="2423160" cy="274320"/>
          </a:xfrm>
          <a:prstGeom prst="rect">
            <a:avLst/>
          </a:prstGeom>
          <a:noFill/>
          <a:ln/>
        </p:spPr>
        <p:txBody>
          <a:bodyPr wrap="square" rtlCol="0" anchor="ctr"/>
          <a:lstStyle/>
          <a:p>
            <a:pPr marL="0" indent="0">
              <a:buNone/>
            </a:pPr>
            <a:r>
              <a:rPr lang="en-US" sz="1100" b="1" dirty="0">
                <a:solidFill>
                  <a:srgbClr val="2C1810"/>
                </a:solidFill>
                <a:latin typeface="Calibri" pitchFamily="34" charset="0"/>
                <a:ea typeface="Calibri" pitchFamily="34" charset="-122"/>
                <a:cs typeface="Calibri" pitchFamily="34" charset="-120"/>
              </a:rPr>
              <a:t>TECKNET</a:t>
            </a:r>
            <a:endParaRPr lang="en-US" sz="1100" dirty="0"/>
          </a:p>
        </p:txBody>
      </p:sp>
      <p:sp>
        <p:nvSpPr>
          <p:cNvPr id="15" name="Text 12"/>
          <p:cNvSpPr/>
          <p:nvPr/>
        </p:nvSpPr>
        <p:spPr>
          <a:xfrm>
            <a:off x="6309360" y="3685032"/>
            <a:ext cx="1097280" cy="320040"/>
          </a:xfrm>
          <a:prstGeom prst="rect">
            <a:avLst/>
          </a:prstGeom>
          <a:noFill/>
          <a:ln/>
        </p:spPr>
        <p:txBody>
          <a:bodyPr wrap="square" rtlCol="0" anchor="ctr"/>
          <a:lstStyle/>
          <a:p>
            <a:pPr marL="0" indent="0">
              <a:buNone/>
            </a:pPr>
            <a:r>
              <a:rPr lang="en-US" sz="2000" b="1" dirty="0">
                <a:solidFill>
                  <a:srgbClr val="6D2E46"/>
                </a:solidFill>
                <a:latin typeface="Georgia" pitchFamily="34" charset="0"/>
                <a:ea typeface="Georgia" pitchFamily="34" charset="-122"/>
                <a:cs typeface="Georgia" pitchFamily="34" charset="-120"/>
              </a:rPr>
              <a:t>38K</a:t>
            </a:r>
            <a:endParaRPr lang="en-US" sz="2000" dirty="0"/>
          </a:p>
        </p:txBody>
      </p:sp>
      <p:sp>
        <p:nvSpPr>
          <p:cNvPr id="16" name="Text 13"/>
          <p:cNvSpPr/>
          <p:nvPr/>
        </p:nvSpPr>
        <p:spPr>
          <a:xfrm>
            <a:off x="7315200" y="3776472"/>
            <a:ext cx="1371600" cy="228600"/>
          </a:xfrm>
          <a:prstGeom prst="rect">
            <a:avLst/>
          </a:prstGeom>
          <a:noFill/>
          <a:ln/>
        </p:spPr>
        <p:txBody>
          <a:bodyPr wrap="square" rtlCol="0" anchor="ctr"/>
          <a:lstStyle/>
          <a:p>
            <a:pPr marL="0" indent="0">
              <a:buNone/>
            </a:pPr>
            <a:r>
              <a:rPr lang="en-US" sz="900" dirty="0">
                <a:solidFill>
                  <a:srgbClr val="8B6B6B"/>
                </a:solidFill>
                <a:latin typeface="Calibri" pitchFamily="34" charset="0"/>
                <a:ea typeface="Calibri" pitchFamily="34" charset="-122"/>
                <a:cs typeface="Calibri" pitchFamily="34" charset="-120"/>
              </a:rPr>
              <a:t>units sold</a:t>
            </a:r>
            <a:endParaRPr lang="en-US" sz="900" dirty="0"/>
          </a:p>
        </p:txBody>
      </p:sp>
      <p:sp>
        <p:nvSpPr>
          <p:cNvPr id="17" name="Shape 14"/>
          <p:cNvSpPr/>
          <p:nvPr/>
        </p:nvSpPr>
        <p:spPr>
          <a:xfrm>
            <a:off x="6217920" y="4434840"/>
            <a:ext cx="2606040" cy="640080"/>
          </a:xfrm>
          <a:prstGeom prst="rect">
            <a:avLst/>
          </a:prstGeom>
          <a:solidFill>
            <a:srgbClr val="F5EFEC"/>
          </a:solidFill>
          <a:ln w="6350">
            <a:solidFill>
              <a:srgbClr val="E8DDD8"/>
            </a:solidFill>
            <a:prstDash val="solid"/>
          </a:ln>
        </p:spPr>
        <p:txBody>
          <a:bodyPr/>
          <a:lstStyle/>
          <a:p>
            <a:endParaRPr lang="en-US"/>
          </a:p>
        </p:txBody>
      </p:sp>
      <p:sp>
        <p:nvSpPr>
          <p:cNvPr id="18" name="Text 15"/>
          <p:cNvSpPr/>
          <p:nvPr/>
        </p:nvSpPr>
        <p:spPr>
          <a:xfrm>
            <a:off x="6309360" y="4480560"/>
            <a:ext cx="2423160" cy="548640"/>
          </a:xfrm>
          <a:prstGeom prst="rect">
            <a:avLst/>
          </a:prstGeom>
          <a:noFill/>
          <a:ln/>
        </p:spPr>
        <p:txBody>
          <a:bodyPr wrap="square" rtlCol="0" anchor="ctr"/>
          <a:lstStyle/>
          <a:p>
            <a:pPr marL="0" indent="0">
              <a:buNone/>
            </a:pPr>
            <a:r>
              <a:rPr lang="en-US" sz="900" i="1" dirty="0">
                <a:solidFill>
                  <a:srgbClr val="8B6B6B"/>
                </a:solidFill>
                <a:latin typeface="Calibri" pitchFamily="34" charset="0"/>
                <a:ea typeface="Calibri" pitchFamily="34" charset="-122"/>
                <a:cs typeface="Calibri" pitchFamily="34" charset="-120"/>
              </a:rPr>
              <a:t>MROCO has the highest avg sales per product at 4,767 units/month despite only 3 products.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02920"/>
          </a:xfrm>
          <a:prstGeom prst="rect">
            <a:avLst/>
          </a:prstGeom>
          <a:noFill/>
          <a:ln/>
        </p:spPr>
        <p:txBody>
          <a:bodyPr wrap="square" rtlCol="0" anchor="ctr"/>
          <a:lstStyle/>
          <a:p>
            <a:pPr marL="0" indent="0">
              <a:buNone/>
            </a:pPr>
            <a:r>
              <a:rPr lang="en-US" sz="2800" b="1" dirty="0">
                <a:solidFill>
                  <a:srgbClr val="2C1810"/>
                </a:solidFill>
                <a:latin typeface="Georgia" pitchFamily="34" charset="0"/>
                <a:ea typeface="Georgia" pitchFamily="34" charset="-122"/>
                <a:cs typeface="Georgia" pitchFamily="34" charset="-120"/>
              </a:rPr>
              <a:t>Customer Satisfaction</a:t>
            </a:r>
            <a:endParaRPr lang="en-US" sz="2800" dirty="0"/>
          </a:p>
        </p:txBody>
      </p:sp>
      <p:sp>
        <p:nvSpPr>
          <p:cNvPr id="3" name="Shape 1"/>
          <p:cNvSpPr/>
          <p:nvPr/>
        </p:nvSpPr>
        <p:spPr>
          <a:xfrm>
            <a:off x="548640" y="914400"/>
            <a:ext cx="8046720" cy="0"/>
          </a:xfrm>
          <a:prstGeom prst="line">
            <a:avLst/>
          </a:prstGeom>
          <a:noFill/>
          <a:ln w="6350">
            <a:solidFill>
              <a:srgbClr val="E8DDD8"/>
            </a:solidFill>
            <a:prstDash val="solid"/>
          </a:ln>
        </p:spPr>
        <p:txBody>
          <a:bodyPr/>
          <a:lstStyle/>
          <a:p>
            <a:endParaRPr lang="en-US"/>
          </a:p>
        </p:txBody>
      </p:sp>
      <p:graphicFrame>
        <p:nvGraphicFramePr>
          <p:cNvPr id="4" name="Chart 0"/>
          <p:cNvGraphicFramePr/>
          <p:nvPr/>
        </p:nvGraphicFramePr>
        <p:xfrm>
          <a:off x="457200" y="1051560"/>
          <a:ext cx="5120640" cy="25603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457200" y="3749040"/>
          <a:ext cx="5120640" cy="128016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760720" y="1051560"/>
            <a:ext cx="3017520" cy="3977640"/>
          </a:xfrm>
          <a:prstGeom prst="rect">
            <a:avLst/>
          </a:prstGeom>
          <a:solidFill>
            <a:srgbClr val="FFFFFF"/>
          </a:solidFill>
          <a:ln w="6350">
            <a:solidFill>
              <a:srgbClr val="E8DDD8"/>
            </a:solidFill>
            <a:prstDash val="solid"/>
          </a:ln>
          <a:effectLst>
            <a:outerShdw blurRad="101600" dist="25400" dir="8100000" algn="bl" rotWithShape="0">
              <a:srgbClr val="000000">
                <a:alpha val="8000"/>
              </a:srgbClr>
            </a:outerShdw>
          </a:effectLst>
        </p:spPr>
        <p:txBody>
          <a:bodyPr/>
          <a:lstStyle/>
          <a:p>
            <a:endParaRPr lang="en-US"/>
          </a:p>
        </p:txBody>
      </p:sp>
      <p:sp>
        <p:nvSpPr>
          <p:cNvPr id="7" name="Text 3"/>
          <p:cNvSpPr/>
          <p:nvPr/>
        </p:nvSpPr>
        <p:spPr>
          <a:xfrm>
            <a:off x="5897880" y="1188720"/>
            <a:ext cx="2743200" cy="320040"/>
          </a:xfrm>
          <a:prstGeom prst="rect">
            <a:avLst/>
          </a:prstGeom>
          <a:noFill/>
          <a:ln/>
        </p:spPr>
        <p:txBody>
          <a:bodyPr wrap="square" rtlCol="0" anchor="ctr"/>
          <a:lstStyle/>
          <a:p>
            <a:pPr marL="0" indent="0">
              <a:buNone/>
            </a:pPr>
            <a:r>
              <a:rPr lang="en-US" sz="1200" b="1" dirty="0">
                <a:solidFill>
                  <a:srgbClr val="6D2E46"/>
                </a:solidFill>
                <a:latin typeface="Calibri" pitchFamily="34" charset="0"/>
                <a:ea typeface="Calibri" pitchFamily="34" charset="-122"/>
                <a:cs typeface="Calibri" pitchFamily="34" charset="-120"/>
              </a:rPr>
              <a:t>Key Insights</a:t>
            </a:r>
            <a:endParaRPr lang="en-US" sz="1200" dirty="0"/>
          </a:p>
        </p:txBody>
      </p:sp>
      <p:sp>
        <p:nvSpPr>
          <p:cNvPr id="8" name="Shape 4"/>
          <p:cNvSpPr/>
          <p:nvPr/>
        </p:nvSpPr>
        <p:spPr>
          <a:xfrm>
            <a:off x="5897880" y="1719072"/>
            <a:ext cx="164592" cy="164592"/>
          </a:xfrm>
          <a:prstGeom prst="ellipse">
            <a:avLst/>
          </a:prstGeom>
          <a:solidFill>
            <a:srgbClr val="6D2E46"/>
          </a:solidFill>
          <a:ln w="12700">
            <a:solidFill>
              <a:srgbClr val="6D2E46"/>
            </a:solidFill>
            <a:prstDash val="solid"/>
          </a:ln>
        </p:spPr>
        <p:txBody>
          <a:bodyPr/>
          <a:lstStyle/>
          <a:p>
            <a:endParaRPr lang="en-US"/>
          </a:p>
        </p:txBody>
      </p:sp>
      <p:sp>
        <p:nvSpPr>
          <p:cNvPr id="9" name="Text 5"/>
          <p:cNvSpPr/>
          <p:nvPr/>
        </p:nvSpPr>
        <p:spPr>
          <a:xfrm>
            <a:off x="6126480" y="1664208"/>
            <a:ext cx="2514600" cy="566928"/>
          </a:xfrm>
          <a:prstGeom prst="rect">
            <a:avLst/>
          </a:prstGeom>
          <a:noFill/>
          <a:ln/>
        </p:spPr>
        <p:txBody>
          <a:bodyPr wrap="square" rtlCol="0" anchor="t"/>
          <a:lstStyle/>
          <a:p>
            <a:pPr marL="0" indent="0">
              <a:buNone/>
            </a:pPr>
            <a:r>
              <a:rPr lang="en-US" sz="1000" dirty="0">
                <a:solidFill>
                  <a:srgbClr val="2C1810"/>
                </a:solidFill>
                <a:latin typeface="Calibri" pitchFamily="34" charset="0"/>
                <a:ea typeface="Calibri" pitchFamily="34" charset="-122"/>
                <a:cs typeface="Calibri" pitchFamily="34" charset="-120"/>
              </a:rPr>
              <a:t>AOC, LOVEVOOK &amp; ACEMAGIC lead with 4.6 avg rating</a:t>
            </a:r>
            <a:endParaRPr lang="en-US" sz="1000" dirty="0"/>
          </a:p>
        </p:txBody>
      </p:sp>
      <p:sp>
        <p:nvSpPr>
          <p:cNvPr id="10" name="Shape 6"/>
          <p:cNvSpPr/>
          <p:nvPr/>
        </p:nvSpPr>
        <p:spPr>
          <a:xfrm>
            <a:off x="5897880" y="2468880"/>
            <a:ext cx="164592" cy="164592"/>
          </a:xfrm>
          <a:prstGeom prst="ellipse">
            <a:avLst/>
          </a:prstGeom>
          <a:solidFill>
            <a:srgbClr val="6D2E46"/>
          </a:solidFill>
          <a:ln w="12700">
            <a:solidFill>
              <a:srgbClr val="6D2E46"/>
            </a:solidFill>
            <a:prstDash val="solid"/>
          </a:ln>
        </p:spPr>
        <p:txBody>
          <a:bodyPr/>
          <a:lstStyle/>
          <a:p>
            <a:endParaRPr lang="en-US"/>
          </a:p>
        </p:txBody>
      </p:sp>
      <p:sp>
        <p:nvSpPr>
          <p:cNvPr id="11" name="Text 7"/>
          <p:cNvSpPr/>
          <p:nvPr/>
        </p:nvSpPr>
        <p:spPr>
          <a:xfrm>
            <a:off x="6126480" y="2414016"/>
            <a:ext cx="2514600" cy="566928"/>
          </a:xfrm>
          <a:prstGeom prst="rect">
            <a:avLst/>
          </a:prstGeom>
          <a:noFill/>
          <a:ln/>
        </p:spPr>
        <p:txBody>
          <a:bodyPr wrap="square" rtlCol="0" anchor="t"/>
          <a:lstStyle/>
          <a:p>
            <a:pPr marL="0" indent="0">
              <a:buNone/>
            </a:pPr>
            <a:r>
              <a:rPr lang="en-US" sz="1000" dirty="0">
                <a:solidFill>
                  <a:srgbClr val="2C1810"/>
                </a:solidFill>
                <a:latin typeface="Calibri" pitchFamily="34" charset="0"/>
                <a:ea typeface="Calibri" pitchFamily="34" charset="-122"/>
                <a:cs typeface="Calibri" pitchFamily="34" charset="-120"/>
              </a:rPr>
              <a:t>Logitech has the most reviews: 945,018 total</a:t>
            </a:r>
            <a:endParaRPr lang="en-US" sz="1000" dirty="0"/>
          </a:p>
        </p:txBody>
      </p:sp>
      <p:sp>
        <p:nvSpPr>
          <p:cNvPr id="12" name="Shape 8"/>
          <p:cNvSpPr/>
          <p:nvPr/>
        </p:nvSpPr>
        <p:spPr>
          <a:xfrm>
            <a:off x="5897880" y="3218688"/>
            <a:ext cx="164592" cy="164592"/>
          </a:xfrm>
          <a:prstGeom prst="ellipse">
            <a:avLst/>
          </a:prstGeom>
          <a:solidFill>
            <a:srgbClr val="6D2E46"/>
          </a:solidFill>
          <a:ln w="12700">
            <a:solidFill>
              <a:srgbClr val="6D2E46"/>
            </a:solidFill>
            <a:prstDash val="solid"/>
          </a:ln>
        </p:spPr>
        <p:txBody>
          <a:bodyPr/>
          <a:lstStyle/>
          <a:p>
            <a:endParaRPr lang="en-US"/>
          </a:p>
        </p:txBody>
      </p:sp>
      <p:sp>
        <p:nvSpPr>
          <p:cNvPr id="13" name="Text 9"/>
          <p:cNvSpPr/>
          <p:nvPr/>
        </p:nvSpPr>
        <p:spPr>
          <a:xfrm>
            <a:off x="6126480" y="3163824"/>
            <a:ext cx="2514600" cy="566928"/>
          </a:xfrm>
          <a:prstGeom prst="rect">
            <a:avLst/>
          </a:prstGeom>
          <a:noFill/>
          <a:ln/>
        </p:spPr>
        <p:txBody>
          <a:bodyPr wrap="square" rtlCol="0" anchor="t"/>
          <a:lstStyle/>
          <a:p>
            <a:pPr marL="0" indent="0">
              <a:buNone/>
            </a:pPr>
            <a:r>
              <a:rPr lang="en-US" sz="1000" dirty="0">
                <a:solidFill>
                  <a:srgbClr val="2C1810"/>
                </a:solidFill>
                <a:latin typeface="Calibri" pitchFamily="34" charset="0"/>
                <a:ea typeface="Calibri" pitchFamily="34" charset="-122"/>
                <a:cs typeface="Calibri" pitchFamily="34" charset="-120"/>
              </a:rPr>
              <a:t>Products with 50K+ reviews avg only $18 in price</a:t>
            </a:r>
            <a:endParaRPr lang="en-US" sz="1000" dirty="0"/>
          </a:p>
        </p:txBody>
      </p:sp>
      <p:sp>
        <p:nvSpPr>
          <p:cNvPr id="14" name="Shape 10"/>
          <p:cNvSpPr/>
          <p:nvPr/>
        </p:nvSpPr>
        <p:spPr>
          <a:xfrm>
            <a:off x="5897880" y="3968496"/>
            <a:ext cx="164592" cy="164592"/>
          </a:xfrm>
          <a:prstGeom prst="ellipse">
            <a:avLst/>
          </a:prstGeom>
          <a:solidFill>
            <a:srgbClr val="6D2E46"/>
          </a:solidFill>
          <a:ln w="12700">
            <a:solidFill>
              <a:srgbClr val="6D2E46"/>
            </a:solidFill>
            <a:prstDash val="solid"/>
          </a:ln>
        </p:spPr>
        <p:txBody>
          <a:bodyPr/>
          <a:lstStyle/>
          <a:p>
            <a:endParaRPr lang="en-US"/>
          </a:p>
        </p:txBody>
      </p:sp>
      <p:sp>
        <p:nvSpPr>
          <p:cNvPr id="15" name="Text 11"/>
          <p:cNvSpPr/>
          <p:nvPr/>
        </p:nvSpPr>
        <p:spPr>
          <a:xfrm>
            <a:off x="6126480" y="3913632"/>
            <a:ext cx="2514600" cy="566928"/>
          </a:xfrm>
          <a:prstGeom prst="rect">
            <a:avLst/>
          </a:prstGeom>
          <a:noFill/>
          <a:ln/>
        </p:spPr>
        <p:txBody>
          <a:bodyPr wrap="square" rtlCol="0" anchor="t"/>
          <a:lstStyle/>
          <a:p>
            <a:pPr marL="0" indent="0">
              <a:buNone/>
            </a:pPr>
            <a:r>
              <a:rPr lang="en-US" sz="1000" dirty="0">
                <a:solidFill>
                  <a:srgbClr val="2C1810"/>
                </a:solidFill>
                <a:latin typeface="Calibri" pitchFamily="34" charset="0"/>
                <a:ea typeface="Calibri" pitchFamily="34" charset="-122"/>
                <a:cs typeface="Calibri" pitchFamily="34" charset="-120"/>
              </a:rPr>
              <a:t>More reviews consistently correlates with higher rating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D2E46"/>
        </a:solidFill>
        <a:effectLst/>
      </p:bgPr>
    </p:bg>
    <p:spTree>
      <p:nvGrpSpPr>
        <p:cNvPr id="1" name=""/>
        <p:cNvGrpSpPr/>
        <p:nvPr/>
      </p:nvGrpSpPr>
      <p:grpSpPr>
        <a:xfrm>
          <a:off x="0" y="0"/>
          <a:ext cx="0" cy="0"/>
          <a:chOff x="0" y="0"/>
          <a:chExt cx="0" cy="0"/>
        </a:xfrm>
      </p:grpSpPr>
      <p:sp>
        <p:nvSpPr>
          <p:cNvPr id="3" name="Text 1"/>
          <p:cNvSpPr/>
          <p:nvPr/>
        </p:nvSpPr>
        <p:spPr>
          <a:xfrm>
            <a:off x="548640" y="457200"/>
            <a:ext cx="6400800" cy="6400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Key Takeaways</a:t>
            </a:r>
            <a:endParaRPr lang="en-US" sz="3600" dirty="0"/>
          </a:p>
        </p:txBody>
      </p:sp>
      <p:sp>
        <p:nvSpPr>
          <p:cNvPr id="4" name="Shape 2"/>
          <p:cNvSpPr/>
          <p:nvPr/>
        </p:nvSpPr>
        <p:spPr>
          <a:xfrm>
            <a:off x="548640" y="1188720"/>
            <a:ext cx="3657600" cy="0"/>
          </a:xfrm>
          <a:prstGeom prst="line">
            <a:avLst/>
          </a:prstGeom>
          <a:noFill/>
          <a:ln w="19050">
            <a:solidFill>
              <a:srgbClr val="A26769"/>
            </a:solidFill>
            <a:prstDash val="solid"/>
          </a:ln>
        </p:spPr>
        <p:txBody>
          <a:bodyPr/>
          <a:lstStyle/>
          <a:p>
            <a:endParaRPr lang="en-US"/>
          </a:p>
        </p:txBody>
      </p:sp>
      <p:sp>
        <p:nvSpPr>
          <p:cNvPr id="5" name="Text 3"/>
          <p:cNvSpPr/>
          <p:nvPr/>
        </p:nvSpPr>
        <p:spPr>
          <a:xfrm>
            <a:off x="548640" y="1417320"/>
            <a:ext cx="1371600" cy="320040"/>
          </a:xfrm>
          <a:prstGeom prst="rect">
            <a:avLst/>
          </a:prstGeom>
          <a:noFill/>
          <a:ln/>
        </p:spPr>
        <p:txBody>
          <a:bodyPr wrap="square" rtlCol="0" anchor="ctr"/>
          <a:lstStyle/>
          <a:p>
            <a:pPr marL="0" indent="0">
              <a:buNone/>
            </a:pPr>
            <a:r>
              <a:rPr lang="en-US" sz="1200" b="1" dirty="0">
                <a:solidFill>
                  <a:srgbClr val="A26769"/>
                </a:solidFill>
                <a:latin typeface="Calibri" pitchFamily="34" charset="0"/>
                <a:ea typeface="Calibri" pitchFamily="34" charset="-122"/>
                <a:cs typeface="Calibri" pitchFamily="34" charset="-120"/>
              </a:rPr>
              <a:t>Pricing  —  </a:t>
            </a:r>
            <a:endParaRPr lang="en-US" sz="1200" dirty="0"/>
          </a:p>
        </p:txBody>
      </p:sp>
      <p:sp>
        <p:nvSpPr>
          <p:cNvPr id="6" name="Text 4"/>
          <p:cNvSpPr/>
          <p:nvPr/>
        </p:nvSpPr>
        <p:spPr>
          <a:xfrm>
            <a:off x="548640" y="1764792"/>
            <a:ext cx="5029200" cy="594360"/>
          </a:xfrm>
          <a:prstGeom prst="rect">
            <a:avLst/>
          </a:prstGeom>
          <a:noFill/>
          <a:ln/>
        </p:spPr>
        <p:txBody>
          <a:bodyPr wrap="square" rtlCol="0" anchor="ctr"/>
          <a:lstStyle/>
          <a:p>
            <a:pPr marL="0" indent="0">
              <a:buNone/>
            </a:pPr>
            <a:r>
              <a:rPr lang="en-US" sz="1100" dirty="0">
                <a:solidFill>
                  <a:srgbClr val="F5E8E8"/>
                </a:solidFill>
                <a:latin typeface="Calibri" pitchFamily="34" charset="0"/>
                <a:ea typeface="Calibri" pitchFamily="34" charset="-122"/>
                <a:cs typeface="Calibri" pitchFamily="34" charset="-120"/>
              </a:rPr>
              <a:t>Average price is $139. Most products are under $25. Price inversely correlates with review volume.</a:t>
            </a:r>
            <a:endParaRPr lang="en-US" sz="1100" dirty="0"/>
          </a:p>
        </p:txBody>
      </p:sp>
      <p:sp>
        <p:nvSpPr>
          <p:cNvPr id="7" name="Text 5"/>
          <p:cNvSpPr/>
          <p:nvPr/>
        </p:nvSpPr>
        <p:spPr>
          <a:xfrm>
            <a:off x="548640" y="2532888"/>
            <a:ext cx="1371600" cy="320040"/>
          </a:xfrm>
          <a:prstGeom prst="rect">
            <a:avLst/>
          </a:prstGeom>
          <a:noFill/>
          <a:ln/>
        </p:spPr>
        <p:txBody>
          <a:bodyPr wrap="square" rtlCol="0" anchor="ctr"/>
          <a:lstStyle/>
          <a:p>
            <a:pPr marL="0" indent="0">
              <a:buNone/>
            </a:pPr>
            <a:r>
              <a:rPr lang="en-US" sz="1200" b="1" dirty="0">
                <a:solidFill>
                  <a:srgbClr val="A26769"/>
                </a:solidFill>
                <a:latin typeface="Calibri" pitchFamily="34" charset="0"/>
                <a:ea typeface="Calibri" pitchFamily="34" charset="-122"/>
                <a:cs typeface="Calibri" pitchFamily="34" charset="-120"/>
              </a:rPr>
              <a:t>Sales  —  </a:t>
            </a:r>
            <a:endParaRPr lang="en-US" sz="1200" dirty="0"/>
          </a:p>
        </p:txBody>
      </p:sp>
      <p:sp>
        <p:nvSpPr>
          <p:cNvPr id="8" name="Text 6"/>
          <p:cNvSpPr/>
          <p:nvPr/>
        </p:nvSpPr>
        <p:spPr>
          <a:xfrm>
            <a:off x="548640" y="2880360"/>
            <a:ext cx="5029200" cy="594360"/>
          </a:xfrm>
          <a:prstGeom prst="rect">
            <a:avLst/>
          </a:prstGeom>
          <a:noFill/>
          <a:ln/>
        </p:spPr>
        <p:txBody>
          <a:bodyPr wrap="square" rtlCol="0" anchor="ctr"/>
          <a:lstStyle/>
          <a:p>
            <a:pPr marL="0" indent="0">
              <a:buNone/>
            </a:pPr>
            <a:r>
              <a:rPr lang="en-US" sz="1100" dirty="0">
                <a:solidFill>
                  <a:srgbClr val="F5E8E8"/>
                </a:solidFill>
                <a:latin typeface="Calibri" pitchFamily="34" charset="0"/>
                <a:ea typeface="Calibri" pitchFamily="34" charset="-122"/>
                <a:cs typeface="Calibri" pitchFamily="34" charset="-120"/>
              </a:rPr>
              <a:t>Logitech dominates with 339K monthly units. Affordable products drive volume. Generic brands underperform.</a:t>
            </a:r>
            <a:endParaRPr lang="en-US" sz="1100" dirty="0"/>
          </a:p>
        </p:txBody>
      </p:sp>
      <p:sp>
        <p:nvSpPr>
          <p:cNvPr id="9" name="Text 7"/>
          <p:cNvSpPr/>
          <p:nvPr/>
        </p:nvSpPr>
        <p:spPr>
          <a:xfrm>
            <a:off x="548640" y="3648456"/>
            <a:ext cx="1371600" cy="320040"/>
          </a:xfrm>
          <a:prstGeom prst="rect">
            <a:avLst/>
          </a:prstGeom>
          <a:noFill/>
          <a:ln/>
        </p:spPr>
        <p:txBody>
          <a:bodyPr wrap="square" rtlCol="0" anchor="ctr"/>
          <a:lstStyle/>
          <a:p>
            <a:pPr marL="0" indent="0">
              <a:buNone/>
            </a:pPr>
            <a:r>
              <a:rPr lang="en-US" sz="1200" b="1" dirty="0">
                <a:solidFill>
                  <a:srgbClr val="A26769"/>
                </a:solidFill>
                <a:latin typeface="Calibri" pitchFamily="34" charset="0"/>
                <a:ea typeface="Calibri" pitchFamily="34" charset="-122"/>
                <a:cs typeface="Calibri" pitchFamily="34" charset="-120"/>
              </a:rPr>
              <a:t>Satisfaction  —  </a:t>
            </a:r>
            <a:endParaRPr lang="en-US" sz="1200" dirty="0"/>
          </a:p>
        </p:txBody>
      </p:sp>
      <p:sp>
        <p:nvSpPr>
          <p:cNvPr id="10" name="Text 8"/>
          <p:cNvSpPr/>
          <p:nvPr/>
        </p:nvSpPr>
        <p:spPr>
          <a:xfrm>
            <a:off x="548640" y="3995928"/>
            <a:ext cx="5029200" cy="594360"/>
          </a:xfrm>
          <a:prstGeom prst="rect">
            <a:avLst/>
          </a:prstGeom>
          <a:noFill/>
          <a:ln/>
        </p:spPr>
        <p:txBody>
          <a:bodyPr wrap="square" rtlCol="0" anchor="ctr"/>
          <a:lstStyle/>
          <a:p>
            <a:pPr marL="0" indent="0">
              <a:buNone/>
            </a:pPr>
            <a:r>
              <a:rPr lang="en-US" sz="1100" dirty="0">
                <a:solidFill>
                  <a:srgbClr val="F5E8E8"/>
                </a:solidFill>
                <a:latin typeface="Calibri" pitchFamily="34" charset="0"/>
                <a:ea typeface="Calibri" pitchFamily="34" charset="-122"/>
                <a:cs typeface="Calibri" pitchFamily="34" charset="-120"/>
              </a:rPr>
              <a:t>Top brands maintain 4.4–4.6 ratings. More reviews = better rating. Budget products earn more trust.</a:t>
            </a:r>
            <a:endParaRPr lang="en-US" sz="1100" dirty="0"/>
          </a:p>
        </p:txBody>
      </p:sp>
      <p:sp>
        <p:nvSpPr>
          <p:cNvPr id="11" name="Text 9"/>
          <p:cNvSpPr/>
          <p:nvPr/>
        </p:nvSpPr>
        <p:spPr>
          <a:xfrm>
            <a:off x="548640" y="4389120"/>
            <a:ext cx="1828800" cy="274320"/>
          </a:xfrm>
          <a:prstGeom prst="rect">
            <a:avLst/>
          </a:prstGeom>
          <a:noFill/>
          <a:ln/>
        </p:spPr>
        <p:txBody>
          <a:bodyPr wrap="square" rtlCol="0" anchor="ctr"/>
          <a:lstStyle/>
          <a:p>
            <a:pPr marL="0" indent="0">
              <a:buNone/>
            </a:pPr>
            <a:r>
              <a:rPr lang="en-US" sz="900" i="1" dirty="0">
                <a:solidFill>
                  <a:srgbClr val="A26769"/>
                </a:solidFill>
                <a:latin typeface="Calibri" pitchFamily="34" charset="0"/>
                <a:ea typeface="Calibri" pitchFamily="34" charset="-122"/>
                <a:cs typeface="Calibri" pitchFamily="34" charset="-120"/>
              </a:rPr>
              <a:t>Tools used</a:t>
            </a:r>
            <a:endParaRPr lang="en-US" sz="900" dirty="0"/>
          </a:p>
        </p:txBody>
      </p:sp>
      <p:sp>
        <p:nvSpPr>
          <p:cNvPr id="12" name="Shape 10"/>
          <p:cNvSpPr/>
          <p:nvPr/>
        </p:nvSpPr>
        <p:spPr>
          <a:xfrm>
            <a:off x="548640" y="4663440"/>
            <a:ext cx="1097280" cy="274320"/>
          </a:xfrm>
          <a:prstGeom prst="roundRect">
            <a:avLst>
              <a:gd name="adj" fmla="val 16667"/>
            </a:avLst>
          </a:prstGeom>
          <a:solidFill>
            <a:srgbClr val="5A2238"/>
          </a:solidFill>
          <a:ln w="6350">
            <a:solidFill>
              <a:srgbClr val="A26769"/>
            </a:solidFill>
            <a:prstDash val="solid"/>
          </a:ln>
        </p:spPr>
        <p:txBody>
          <a:bodyPr/>
          <a:lstStyle/>
          <a:p>
            <a:endParaRPr lang="en-US"/>
          </a:p>
        </p:txBody>
      </p:sp>
      <p:sp>
        <p:nvSpPr>
          <p:cNvPr id="13" name="Text 11"/>
          <p:cNvSpPr/>
          <p:nvPr/>
        </p:nvSpPr>
        <p:spPr>
          <a:xfrm>
            <a:off x="548640" y="4663440"/>
            <a:ext cx="10972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Python</a:t>
            </a:r>
            <a:endParaRPr lang="en-US" sz="900" dirty="0"/>
          </a:p>
        </p:txBody>
      </p:sp>
      <p:sp>
        <p:nvSpPr>
          <p:cNvPr id="14" name="Shape 12"/>
          <p:cNvSpPr/>
          <p:nvPr/>
        </p:nvSpPr>
        <p:spPr>
          <a:xfrm>
            <a:off x="1737360" y="4663440"/>
            <a:ext cx="1097280" cy="274320"/>
          </a:xfrm>
          <a:prstGeom prst="roundRect">
            <a:avLst>
              <a:gd name="adj" fmla="val 16667"/>
            </a:avLst>
          </a:prstGeom>
          <a:solidFill>
            <a:srgbClr val="5A2238"/>
          </a:solidFill>
          <a:ln w="6350">
            <a:solidFill>
              <a:srgbClr val="A26769"/>
            </a:solidFill>
            <a:prstDash val="solid"/>
          </a:ln>
        </p:spPr>
        <p:txBody>
          <a:bodyPr/>
          <a:lstStyle/>
          <a:p>
            <a:endParaRPr lang="en-US"/>
          </a:p>
        </p:txBody>
      </p:sp>
      <p:sp>
        <p:nvSpPr>
          <p:cNvPr id="15" name="Text 13"/>
          <p:cNvSpPr/>
          <p:nvPr/>
        </p:nvSpPr>
        <p:spPr>
          <a:xfrm>
            <a:off x="1737360" y="4663440"/>
            <a:ext cx="10972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SQL Server</a:t>
            </a:r>
            <a:endParaRPr lang="en-US" sz="900" dirty="0"/>
          </a:p>
        </p:txBody>
      </p:sp>
      <p:sp>
        <p:nvSpPr>
          <p:cNvPr id="16" name="Shape 14"/>
          <p:cNvSpPr/>
          <p:nvPr/>
        </p:nvSpPr>
        <p:spPr>
          <a:xfrm>
            <a:off x="2926080" y="4663440"/>
            <a:ext cx="1097280" cy="274320"/>
          </a:xfrm>
          <a:prstGeom prst="roundRect">
            <a:avLst>
              <a:gd name="adj" fmla="val 16667"/>
            </a:avLst>
          </a:prstGeom>
          <a:solidFill>
            <a:srgbClr val="5A2238"/>
          </a:solidFill>
          <a:ln w="6350">
            <a:solidFill>
              <a:srgbClr val="A26769"/>
            </a:solidFill>
            <a:prstDash val="solid"/>
          </a:ln>
        </p:spPr>
        <p:txBody>
          <a:bodyPr/>
          <a:lstStyle/>
          <a:p>
            <a:endParaRPr lang="en-US"/>
          </a:p>
        </p:txBody>
      </p:sp>
      <p:sp>
        <p:nvSpPr>
          <p:cNvPr id="17" name="Text 15"/>
          <p:cNvSpPr/>
          <p:nvPr/>
        </p:nvSpPr>
        <p:spPr>
          <a:xfrm>
            <a:off x="2926080" y="4663440"/>
            <a:ext cx="1097280" cy="27432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Power BI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840</TotalTime>
  <Words>459</Words>
  <Application>Microsoft Office PowerPoint</Application>
  <PresentationFormat>On-screen Show (16:9)</PresentationFormat>
  <Paragraphs>87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Products Analysis</dc:title>
  <dc:subject>PptxGenJS Presentation</dc:subject>
  <dc:creator>PptxGenJS</dc:creator>
  <cp:lastModifiedBy>raneem j</cp:lastModifiedBy>
  <cp:revision>2</cp:revision>
  <dcterms:created xsi:type="dcterms:W3CDTF">2026-04-29T16:47:48Z</dcterms:created>
  <dcterms:modified xsi:type="dcterms:W3CDTF">2026-04-30T10:21:00Z</dcterms:modified>
</cp:coreProperties>
</file>